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name the subtheme, the team, or any next steps in the recorded pitch, all three are explicitly prohibited. Anchor on IPAT, the tool MWRI already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"nobody uses the E/T split", you are talking to the people who built WaPOR. Say nobody converts it into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palette is the argument: blue is water that worked, orange is water that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after "the measurement disagreed." If asked how much is the satellite: flat evaporation gives 0%, a per-system average +21.5%, real per-district +25.2%.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"you cannot verify this" before it is asked. End on the word worked, then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Text 0"/>
          <p:cNvSpPr/>
          <p:nvPr/>
        </p:nvSpPr>
        <p:spPr>
          <a:xfrm>
            <a:off x="822960" y="1371600"/>
            <a:ext cx="10515600" cy="310896"/>
          </a:xfrm>
          <a:prstGeom prst="rect">
            <a:avLst/>
          </a:prstGeom>
          <a:noFill/>
          <a:ln/>
        </p:spPr>
        <p:txBody>
          <a:bodyPr wrap="square" lIns="0" tIns="0" rIns="0" bIns="0" rtlCol="0" anchor="ctr"/>
          <a:lstStyle/>
          <a:p>
            <a:pPr indent="0" marL="0">
              <a:buNone/>
            </a:pPr>
            <a:r>
              <a:rPr lang="en-US" sz="1350" b="1" spc="160" kern="0" dirty="0">
                <a:solidFill>
                  <a:srgbClr val="8FB3C6"/>
                </a:solidFill>
                <a:latin typeface="Calibri" pitchFamily="34" charset="0"/>
                <a:ea typeface="Calibri" pitchFamily="34" charset="-122"/>
                <a:cs typeface="Calibri" pitchFamily="34" charset="-120"/>
              </a:rPr>
              <a:t>WaPOR HACKATHON 2026   ·   FROM TOOLS TO DECISIONS</a:t>
            </a:r>
            <a:endParaRPr lang="en-US" sz="1350" dirty="0"/>
          </a:p>
        </p:txBody>
      </p:sp>
      <p:sp>
        <p:nvSpPr>
          <p:cNvPr id="3" name="Text 1"/>
          <p:cNvSpPr/>
          <p:nvPr/>
        </p:nvSpPr>
        <p:spPr>
          <a:xfrm>
            <a:off x="822960" y="1691640"/>
            <a:ext cx="10515600" cy="109728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Same Budget.  More Water.</a:t>
            </a:r>
            <a:endParaRPr lang="en-US" sz="5600" dirty="0"/>
          </a:p>
        </p:txBody>
      </p:sp>
      <p:sp>
        <p:nvSpPr>
          <p:cNvPr id="4" name="Text 2"/>
          <p:cNvSpPr/>
          <p:nvPr/>
        </p:nvSpPr>
        <p:spPr>
          <a:xfrm>
            <a:off x="822960" y="2880360"/>
            <a:ext cx="9692640" cy="731520"/>
          </a:xfrm>
          <a:prstGeom prst="rect">
            <a:avLst/>
          </a:prstGeom>
          <a:noFill/>
          <a:ln/>
        </p:spPr>
        <p:txBody>
          <a:bodyPr wrap="square" lIns="0" tIns="0" rIns="0" bIns="0" rtlCol="0" anchor="ctr"/>
          <a:lstStyle/>
          <a:p>
            <a:pPr indent="0" marL="0">
              <a:buNone/>
            </a:pPr>
            <a:r>
              <a:rPr lang="en-US" sz="1800" dirty="0">
                <a:solidFill>
                  <a:srgbClr val="CFE0EA"/>
                </a:solidFill>
                <a:latin typeface="Calibri" pitchFamily="34" charset="0"/>
                <a:ea typeface="Calibri" pitchFamily="34" charset="-122"/>
                <a:cs typeface="Calibri" pitchFamily="34" charset="-120"/>
              </a:rPr>
              <a:t>Ranking Egypt’s irrigation budget by </a:t>
            </a:r>
            <a:pPr indent="0" marL="0">
              <a:buNone/>
            </a:pPr>
            <a:r>
              <a:rPr lang="en-US" sz="1800" b="1" dirty="0">
                <a:solidFill>
                  <a:srgbClr val="FFFFFF"/>
                </a:solidFill>
                <a:latin typeface="Calibri" pitchFamily="34" charset="0"/>
                <a:ea typeface="Calibri" pitchFamily="34" charset="-122"/>
                <a:cs typeface="Calibri" pitchFamily="34" charset="-120"/>
              </a:rPr>
              <a:t>the water that evaporated without growing a crop</a:t>
            </a:r>
            <a:pPr indent="0" marL="0">
              <a:buNone/>
            </a:pPr>
            <a:r>
              <a:rPr lang="en-US" sz="1800" dirty="0">
                <a:solidFill>
                  <a:srgbClr val="CFE0EA"/>
                </a:solidFill>
                <a:latin typeface="Calibri" pitchFamily="34" charset="0"/>
                <a:ea typeface="Calibri" pitchFamily="34" charset="-122"/>
                <a:cs typeface="Calibri" pitchFamily="34" charset="-120"/>
              </a:rPr>
              <a:t>.</a:t>
            </a:r>
            <a:endParaRPr lang="en-US" sz="1800" dirty="0"/>
          </a:p>
        </p:txBody>
      </p:sp>
      <p:sp>
        <p:nvSpPr>
          <p:cNvPr id="5" name="Text 3"/>
          <p:cNvSpPr/>
          <p:nvPr/>
        </p:nvSpPr>
        <p:spPr>
          <a:xfrm>
            <a:off x="822960" y="4160520"/>
            <a:ext cx="2560320" cy="237744"/>
          </a:xfrm>
          <a:prstGeom prst="rect">
            <a:avLst/>
          </a:prstGeom>
          <a:noFill/>
          <a:ln/>
        </p:spPr>
        <p:txBody>
          <a:bodyPr wrap="square" lIns="0" tIns="0" rIns="0" bIns="0" rtlCol="0" anchor="ctr"/>
          <a:lstStyle/>
          <a:p>
            <a:pPr indent="0" marL="0">
              <a:buNone/>
            </a:pPr>
            <a:r>
              <a:rPr lang="en-US" sz="1100" b="1" spc="120" kern="0" dirty="0">
                <a:solidFill>
                  <a:srgbClr val="6E93A8"/>
                </a:solidFill>
                <a:latin typeface="Calibri" pitchFamily="34" charset="0"/>
                <a:ea typeface="Calibri" pitchFamily="34" charset="-122"/>
                <a:cs typeface="Calibri" pitchFamily="34" charset="-120"/>
              </a:rPr>
              <a:t>DECISION-MAKER</a:t>
            </a:r>
            <a:endParaRPr lang="en-US" sz="1100" dirty="0"/>
          </a:p>
        </p:txBody>
      </p:sp>
      <p:sp>
        <p:nvSpPr>
          <p:cNvPr id="6" name="Text 4"/>
          <p:cNvSpPr/>
          <p:nvPr/>
        </p:nvSpPr>
        <p:spPr>
          <a:xfrm>
            <a:off x="822960" y="4407408"/>
            <a:ext cx="25603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MWRI budget committee</a:t>
            </a:r>
            <a:endParaRPr lang="en-US" sz="1400" dirty="0"/>
          </a:p>
        </p:txBody>
      </p:sp>
      <p:sp>
        <p:nvSpPr>
          <p:cNvPr id="7" name="Text 5"/>
          <p:cNvSpPr/>
          <p:nvPr/>
        </p:nvSpPr>
        <p:spPr>
          <a:xfrm>
            <a:off x="3520440" y="4160520"/>
            <a:ext cx="2560320" cy="237744"/>
          </a:xfrm>
          <a:prstGeom prst="rect">
            <a:avLst/>
          </a:prstGeom>
          <a:noFill/>
          <a:ln/>
        </p:spPr>
        <p:txBody>
          <a:bodyPr wrap="square" lIns="0" tIns="0" rIns="0" bIns="0" rtlCol="0" anchor="ctr"/>
          <a:lstStyle/>
          <a:p>
            <a:pPr indent="0" marL="0">
              <a:buNone/>
            </a:pPr>
            <a:r>
              <a:rPr lang="en-US" sz="1100" b="1" spc="120" kern="0" dirty="0">
                <a:solidFill>
                  <a:srgbClr val="6E93A8"/>
                </a:solidFill>
                <a:latin typeface="Calibri" pitchFamily="34" charset="0"/>
                <a:ea typeface="Calibri" pitchFamily="34" charset="-122"/>
                <a:cs typeface="Calibri" pitchFamily="34" charset="-120"/>
              </a:rPr>
              <a:t>MANDATE</a:t>
            </a:r>
            <a:endParaRPr lang="en-US" sz="1100" dirty="0"/>
          </a:p>
        </p:txBody>
      </p:sp>
      <p:sp>
        <p:nvSpPr>
          <p:cNvPr id="8" name="Text 6"/>
          <p:cNvSpPr/>
          <p:nvPr/>
        </p:nvSpPr>
        <p:spPr>
          <a:xfrm>
            <a:off x="3520440" y="4407408"/>
            <a:ext cx="25603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Egypt’s Nile allocation</a:t>
            </a:r>
            <a:endParaRPr lang="en-US" sz="1400" dirty="0"/>
          </a:p>
        </p:txBody>
      </p:sp>
      <p:sp>
        <p:nvSpPr>
          <p:cNvPr id="9" name="Text 7"/>
          <p:cNvSpPr/>
          <p:nvPr/>
        </p:nvSpPr>
        <p:spPr>
          <a:xfrm>
            <a:off x="6217920" y="4160520"/>
            <a:ext cx="2560320" cy="237744"/>
          </a:xfrm>
          <a:prstGeom prst="rect">
            <a:avLst/>
          </a:prstGeom>
          <a:noFill/>
          <a:ln/>
        </p:spPr>
        <p:txBody>
          <a:bodyPr wrap="square" lIns="0" tIns="0" rIns="0" bIns="0" rtlCol="0" anchor="ctr"/>
          <a:lstStyle/>
          <a:p>
            <a:pPr indent="0" marL="0">
              <a:buNone/>
            </a:pPr>
            <a:r>
              <a:rPr lang="en-US" sz="1100" b="1" spc="120" kern="0" dirty="0">
                <a:solidFill>
                  <a:srgbClr val="6E93A8"/>
                </a:solidFill>
                <a:latin typeface="Calibri" pitchFamily="34" charset="0"/>
                <a:ea typeface="Calibri" pitchFamily="34" charset="-122"/>
                <a:cs typeface="Calibri" pitchFamily="34" charset="-120"/>
              </a:rPr>
              <a:t>TOOL</a:t>
            </a:r>
            <a:endParaRPr lang="en-US" sz="1100" dirty="0"/>
          </a:p>
        </p:txBody>
      </p:sp>
      <p:sp>
        <p:nvSpPr>
          <p:cNvPr id="10" name="Text 8"/>
          <p:cNvSpPr/>
          <p:nvPr/>
        </p:nvSpPr>
        <p:spPr>
          <a:xfrm>
            <a:off x="6217920" y="4407408"/>
            <a:ext cx="25603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IPAT, already at MWRI</a:t>
            </a:r>
            <a:endParaRPr lang="en-US" sz="1400" dirty="0"/>
          </a:p>
        </p:txBody>
      </p:sp>
      <p:sp>
        <p:nvSpPr>
          <p:cNvPr id="11" name="Text 9"/>
          <p:cNvSpPr/>
          <p:nvPr/>
        </p:nvSpPr>
        <p:spPr>
          <a:xfrm>
            <a:off x="8915400" y="4160520"/>
            <a:ext cx="2560320" cy="237744"/>
          </a:xfrm>
          <a:prstGeom prst="rect">
            <a:avLst/>
          </a:prstGeom>
          <a:noFill/>
          <a:ln/>
        </p:spPr>
        <p:txBody>
          <a:bodyPr wrap="square" lIns="0" tIns="0" rIns="0" bIns="0" rtlCol="0" anchor="ctr"/>
          <a:lstStyle/>
          <a:p>
            <a:pPr indent="0" marL="0">
              <a:buNone/>
            </a:pPr>
            <a:r>
              <a:rPr lang="en-US" sz="1100" b="1" spc="120" kern="0" dirty="0">
                <a:solidFill>
                  <a:srgbClr val="6E93A8"/>
                </a:solidFill>
                <a:latin typeface="Calibri" pitchFamily="34" charset="0"/>
                <a:ea typeface="Calibri" pitchFamily="34" charset="-122"/>
                <a:cs typeface="Calibri" pitchFamily="34" charset="-120"/>
              </a:rPr>
              <a:t>WHERE</a:t>
            </a:r>
            <a:endParaRPr lang="en-US" sz="1100" dirty="0"/>
          </a:p>
        </p:txBody>
      </p:sp>
      <p:sp>
        <p:nvSpPr>
          <p:cNvPr id="12" name="Text 10"/>
          <p:cNvSpPr/>
          <p:nvPr/>
        </p:nvSpPr>
        <p:spPr>
          <a:xfrm>
            <a:off x="8915400" y="4407408"/>
            <a:ext cx="25603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Nile Delta &amp; Valley</a:t>
            </a:r>
            <a:endParaRPr lang="en-US" sz="1400" dirty="0"/>
          </a:p>
        </p:txBody>
      </p:sp>
      <p:sp>
        <p:nvSpPr>
          <p:cNvPr id="13" name="Text 11"/>
          <p:cNvSpPr/>
          <p:nvPr/>
        </p:nvSpPr>
        <p:spPr>
          <a:xfrm>
            <a:off x="822960" y="5806440"/>
            <a:ext cx="10515600" cy="329184"/>
          </a:xfrm>
          <a:prstGeom prst="rect">
            <a:avLst/>
          </a:prstGeom>
          <a:noFill/>
          <a:ln/>
        </p:spPr>
        <p:txBody>
          <a:bodyPr wrap="square" lIns="0" tIns="0" rIns="0" bIns="0" rtlCol="0" anchor="ctr"/>
          <a:lstStyle/>
          <a:p>
            <a:pPr indent="0" marL="0">
              <a:buNone/>
            </a:pPr>
            <a:r>
              <a:rPr lang="en-US" sz="1300" b="1" dirty="0">
                <a:solidFill>
                  <a:srgbClr val="A8D5B5"/>
                </a:solidFill>
                <a:latin typeface="Calibri" pitchFamily="34" charset="0"/>
                <a:ea typeface="Calibri" pitchFamily="34" charset="-122"/>
                <a:cs typeface="Calibri" pitchFamily="34" charset="-120"/>
              </a:rPr>
              <a:t>FAO WaPOR v3 Level 2 · 100 m · 18 dekads · 1 May – 31 Oct 2024 · 3.56 Mha observed irrigated land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58368"/>
          </a:xfrm>
          <a:prstGeom prst="rect">
            <a:avLst/>
          </a:prstGeom>
          <a:noFill/>
          <a:ln/>
        </p:spPr>
        <p:txBody>
          <a:bodyPr wrap="square" lIns="0" tIns="0" rIns="0" bIns="0" rtlCol="0" anchor="ctr"/>
          <a:lstStyle/>
          <a:p>
            <a:pPr indent="0" marL="0">
              <a:buNone/>
            </a:pPr>
            <a:r>
              <a:rPr lang="en-US" sz="3400" b="1" dirty="0">
                <a:solidFill>
                  <a:srgbClr val="0B3C5D"/>
                </a:solidFill>
                <a:latin typeface="Cambria" pitchFamily="34" charset="0"/>
                <a:ea typeface="Cambria" pitchFamily="34" charset="-122"/>
                <a:cs typeface="Cambria" pitchFamily="34" charset="-120"/>
              </a:rPr>
              <a:t>The tool works. The decision still does not get made.</a:t>
            </a:r>
            <a:endParaRPr lang="en-US" sz="3400" dirty="0"/>
          </a:p>
        </p:txBody>
      </p:sp>
      <p:sp>
        <p:nvSpPr>
          <p:cNvPr id="3" name="Text 1"/>
          <p:cNvSpPr/>
          <p:nvPr/>
        </p:nvSpPr>
        <p:spPr>
          <a:xfrm>
            <a:off x="640080" y="1060704"/>
            <a:ext cx="10908792" cy="384048"/>
          </a:xfrm>
          <a:prstGeom prst="rect">
            <a:avLst/>
          </a:prstGeom>
          <a:noFill/>
          <a:ln/>
        </p:spPr>
        <p:txBody>
          <a:bodyPr wrap="square" lIns="0" tIns="0" rIns="0" bIns="0" rtlCol="0" anchor="ctr"/>
          <a:lstStyle/>
          <a:p>
            <a:pPr indent="0" marL="0">
              <a:buNone/>
            </a:pPr>
            <a:r>
              <a:rPr lang="en-US" sz="1500" dirty="0">
                <a:solidFill>
                  <a:srgbClr val="6B7B87"/>
                </a:solidFill>
                <a:latin typeface="Calibri" pitchFamily="34" charset="0"/>
                <a:ea typeface="Calibri" pitchFamily="34" charset="-122"/>
                <a:cs typeface="Calibri" pitchFamily="34" charset="-120"/>
              </a:rPr>
              <a:t>FAO lists more than twenty working WaPOR applications. Egypt has its own, running inside the ministry.</a:t>
            </a:r>
            <a:endParaRPr lang="en-US" sz="1500" dirty="0"/>
          </a:p>
        </p:txBody>
      </p:sp>
      <p:sp>
        <p:nvSpPr>
          <p:cNvPr id="4" name="Shape 2"/>
          <p:cNvSpPr/>
          <p:nvPr/>
        </p:nvSpPr>
        <p:spPr>
          <a:xfrm>
            <a:off x="640080" y="1691640"/>
            <a:ext cx="5257800" cy="3108960"/>
          </a:xfrm>
          <a:prstGeom prst="roundRect">
            <a:avLst>
              <a:gd name="adj" fmla="val 2353"/>
            </a:avLst>
          </a:prstGeom>
          <a:solidFill>
            <a:srgbClr val="F4F7F9"/>
          </a:solidFill>
          <a:ln w="12700">
            <a:solidFill>
              <a:srgbClr val="E2E9ED"/>
            </a:solidFill>
            <a:prstDash val="solid"/>
          </a:ln>
        </p:spPr>
      </p:sp>
      <p:sp>
        <p:nvSpPr>
          <p:cNvPr id="5" name="Text 3"/>
          <p:cNvSpPr/>
          <p:nvPr/>
        </p:nvSpPr>
        <p:spPr>
          <a:xfrm>
            <a:off x="960120" y="1920240"/>
            <a:ext cx="4572000" cy="457200"/>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IPAT</a:t>
            </a:r>
            <a:endParaRPr lang="en-US" sz="2600" dirty="0"/>
          </a:p>
        </p:txBody>
      </p:sp>
      <p:sp>
        <p:nvSpPr>
          <p:cNvPr id="6" name="Text 4"/>
          <p:cNvSpPr/>
          <p:nvPr/>
        </p:nvSpPr>
        <p:spPr>
          <a:xfrm>
            <a:off x="960120" y="2395728"/>
            <a:ext cx="4663440" cy="1188720"/>
          </a:xfrm>
          <a:prstGeom prst="rect">
            <a:avLst/>
          </a:prstGeom>
          <a:noFill/>
          <a:ln/>
        </p:spPr>
        <p:txBody>
          <a:bodyPr wrap="square" lIns="0" tIns="0" rIns="0" bIns="0" rtlCol="0" anchor="ctr"/>
          <a:lstStyle/>
          <a:p>
            <a:pPr indent="0" marL="0">
              <a:buNone/>
            </a:pPr>
            <a:r>
              <a:rPr lang="en-US" sz="1500" dirty="0">
                <a:solidFill>
                  <a:srgbClr val="14202A"/>
                </a:solidFill>
                <a:latin typeface="Calibri" pitchFamily="34" charset="0"/>
                <a:ea typeface="Calibri" pitchFamily="34" charset="-122"/>
                <a:cs typeface="Calibri" pitchFamily="34" charset="-120"/>
              </a:rPr>
              <a:t>Irrigation assessment tool for Egypt. Operational pilot, hosted by the Ministry of Water Resources and Irrigation. WaPOR v3 Level 3 at 20 m, across ~1.5 million hectares of the Middle and West Delta.</a:t>
            </a:r>
            <a:endParaRPr lang="en-US" sz="1500" dirty="0"/>
          </a:p>
        </p:txBody>
      </p:sp>
      <p:sp>
        <p:nvSpPr>
          <p:cNvPr id="7" name="Text 5"/>
          <p:cNvSpPr/>
          <p:nvPr/>
        </p:nvSpPr>
        <p:spPr>
          <a:xfrm>
            <a:off x="960120" y="3611880"/>
            <a:ext cx="4663440" cy="54864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It shows, accurately, where water productivity is high and where it is low.</a:t>
            </a:r>
            <a:endParaRPr lang="en-US" sz="1500" dirty="0"/>
          </a:p>
        </p:txBody>
      </p:sp>
      <p:sp>
        <p:nvSpPr>
          <p:cNvPr id="8" name="Text 6"/>
          <p:cNvSpPr/>
          <p:nvPr/>
        </p:nvSpPr>
        <p:spPr>
          <a:xfrm>
            <a:off x="960120" y="4160520"/>
            <a:ext cx="4663440" cy="502920"/>
          </a:xfrm>
          <a:prstGeom prst="rect">
            <a:avLst/>
          </a:prstGeom>
          <a:noFill/>
          <a:ln/>
        </p:spPr>
        <p:txBody>
          <a:bodyPr wrap="square" lIns="0" tIns="0" rIns="0" bIns="0" rtlCol="0" anchor="ctr"/>
          <a:lstStyle/>
          <a:p>
            <a:pPr indent="0" marL="0">
              <a:buNone/>
            </a:pPr>
            <a:r>
              <a:rPr lang="en-US" sz="2000" b="1" dirty="0">
                <a:solidFill>
                  <a:srgbClr val="D96F32"/>
                </a:solidFill>
                <a:latin typeface="Cambria" pitchFamily="34" charset="0"/>
                <a:ea typeface="Cambria" pitchFamily="34" charset="-122"/>
                <a:cs typeface="Cambria" pitchFamily="34" charset="-120"/>
              </a:rPr>
              <a:t>It does not say where to spend.</a:t>
            </a:r>
            <a:endParaRPr lang="en-US" sz="2000" dirty="0"/>
          </a:p>
        </p:txBody>
      </p:sp>
      <p:sp>
        <p:nvSpPr>
          <p:cNvPr id="9" name="Shape 7"/>
          <p:cNvSpPr/>
          <p:nvPr/>
        </p:nvSpPr>
        <p:spPr>
          <a:xfrm>
            <a:off x="6263640" y="1691640"/>
            <a:ext cx="5257800" cy="3108960"/>
          </a:xfrm>
          <a:prstGeom prst="roundRect">
            <a:avLst>
              <a:gd name="adj" fmla="val 2353"/>
            </a:avLst>
          </a:prstGeom>
          <a:solidFill>
            <a:srgbClr val="FDF3EC"/>
          </a:solidFill>
          <a:ln w="12700">
            <a:solidFill>
              <a:srgbClr val="E2E9ED"/>
            </a:solidFill>
            <a:prstDash val="solid"/>
          </a:ln>
        </p:spPr>
      </p:sp>
      <p:sp>
        <p:nvSpPr>
          <p:cNvPr id="10" name="Text 8"/>
          <p:cNvSpPr/>
          <p:nvPr/>
        </p:nvSpPr>
        <p:spPr>
          <a:xfrm>
            <a:off x="6583680" y="1920240"/>
            <a:ext cx="4663440" cy="365760"/>
          </a:xfrm>
          <a:prstGeom prst="rect">
            <a:avLst/>
          </a:prstGeom>
          <a:noFill/>
          <a:ln/>
        </p:spPr>
        <p:txBody>
          <a:bodyPr wrap="square" lIns="0" tIns="0" rIns="0" bIns="0" rtlCol="0" anchor="ctr"/>
          <a:lstStyle/>
          <a:p>
            <a:pPr indent="0" marL="0">
              <a:buNone/>
            </a:pPr>
            <a:r>
              <a:rPr lang="en-US" sz="1500" b="1" dirty="0">
                <a:solidFill>
                  <a:srgbClr val="D96F32"/>
                </a:solidFill>
                <a:latin typeface="Calibri" pitchFamily="34" charset="0"/>
                <a:ea typeface="Calibri" pitchFamily="34" charset="-122"/>
                <a:cs typeface="Calibri" pitchFamily="34" charset="-120"/>
              </a:rPr>
              <a:t>The decision it does not make</a:t>
            </a:r>
            <a:endParaRPr lang="en-US" sz="1500" dirty="0"/>
          </a:p>
        </p:txBody>
      </p:sp>
      <p:sp>
        <p:nvSpPr>
          <p:cNvPr id="11" name="Text 9"/>
          <p:cNvSpPr/>
          <p:nvPr/>
        </p:nvSpPr>
        <p:spPr>
          <a:xfrm>
            <a:off x="6583680" y="2359152"/>
            <a:ext cx="4663440" cy="1097280"/>
          </a:xfrm>
          <a:prstGeom prst="rect">
            <a:avLst/>
          </a:prstGeom>
          <a:noFill/>
          <a:ln/>
        </p:spPr>
        <p:txBody>
          <a:bodyPr wrap="square" lIns="0" tIns="0" rIns="0" bIns="0" rtlCol="0" anchor="ctr"/>
          <a:lstStyle/>
          <a:p>
            <a:pPr indent="0" marL="0">
              <a:buNone/>
            </a:pPr>
            <a:r>
              <a:rPr lang="en-US" sz="1500" dirty="0">
                <a:solidFill>
                  <a:srgbClr val="14202A"/>
                </a:solidFill>
                <a:latin typeface="Calibri" pitchFamily="34" charset="0"/>
                <a:ea typeface="Calibri" pitchFamily="34" charset="-122"/>
                <a:cs typeface="Calibri" pitchFamily="34" charset="-120"/>
              </a:rPr>
              <a:t>A planning officer with a fixed annual modernisation budget still has to decide </a:t>
            </a:r>
            <a:pPr indent="0" marL="0">
              <a:buNone/>
            </a:pPr>
            <a:r>
              <a:rPr lang="en-US" sz="1500" b="1" dirty="0">
                <a:solidFill>
                  <a:srgbClr val="14202A"/>
                </a:solidFill>
                <a:latin typeface="Calibri" pitchFamily="34" charset="0"/>
                <a:ea typeface="Calibri" pitchFamily="34" charset="-122"/>
                <a:cs typeface="Calibri" pitchFamily="34" charset="-120"/>
              </a:rPr>
              <a:t>where to spend it</a:t>
            </a:r>
            <a:pPr indent="0" marL="0">
              <a:buNone/>
            </a:pPr>
            <a:r>
              <a:rPr lang="en-US" sz="1500" dirty="0">
                <a:solidFill>
                  <a:srgbClr val="14202A"/>
                </a:solidFill>
                <a:latin typeface="Calibri" pitchFamily="34" charset="0"/>
                <a:ea typeface="Calibri" pitchFamily="34" charset="-122"/>
                <a:cs typeface="Calibri" pitchFamily="34" charset="-120"/>
              </a:rPr>
              <a:t>. Today that split is made by cultivated area or political balance across governorates.</a:t>
            </a:r>
            <a:endParaRPr lang="en-US" sz="1500" dirty="0"/>
          </a:p>
        </p:txBody>
      </p:sp>
      <p:sp>
        <p:nvSpPr>
          <p:cNvPr id="12" name="Text 10"/>
          <p:cNvSpPr/>
          <p:nvPr/>
        </p:nvSpPr>
        <p:spPr>
          <a:xfrm>
            <a:off x="6583680" y="3520440"/>
            <a:ext cx="4663440" cy="640080"/>
          </a:xfrm>
          <a:prstGeom prst="rect">
            <a:avLst/>
          </a:prstGeom>
          <a:noFill/>
          <a:ln/>
        </p:spPr>
        <p:txBody>
          <a:bodyPr wrap="square" lIns="0" tIns="0" rIns="0" bIns="0" rtlCol="0" anchor="ctr"/>
          <a:lstStyle/>
          <a:p>
            <a:pPr indent="0" marL="0">
              <a:buNone/>
            </a:pPr>
            <a:r>
              <a:rPr lang="en-US" sz="1500" b="1" dirty="0">
                <a:solidFill>
                  <a:srgbClr val="14202A"/>
                </a:solidFill>
                <a:latin typeface="Calibri" pitchFamily="34" charset="0"/>
                <a:ea typeface="Calibri" pitchFamily="34" charset="-122"/>
                <a:cs typeface="Calibri" pitchFamily="34" charset="-120"/>
              </a:rPr>
              <a:t>Nothing in the toolchain says which hectare of subsidy buys the most water back.</a:t>
            </a:r>
            <a:endParaRPr lang="en-US" sz="1500" dirty="0"/>
          </a:p>
        </p:txBody>
      </p:sp>
      <p:sp>
        <p:nvSpPr>
          <p:cNvPr id="13" name="Text 11"/>
          <p:cNvSpPr/>
          <p:nvPr/>
        </p:nvSpPr>
        <p:spPr>
          <a:xfrm>
            <a:off x="6583680" y="4206240"/>
            <a:ext cx="4663440" cy="365760"/>
          </a:xfrm>
          <a:prstGeom prst="rect">
            <a:avLst/>
          </a:prstGeom>
          <a:noFill/>
          <a:ln/>
        </p:spPr>
        <p:txBody>
          <a:bodyPr wrap="square" lIns="0" tIns="0" rIns="0" bIns="0" rtlCol="0" anchor="ctr"/>
          <a:lstStyle/>
          <a:p>
            <a:pPr indent="0" marL="0">
              <a:buNone/>
            </a:pPr>
            <a:r>
              <a:rPr lang="en-US" sz="1500" i="1" dirty="0">
                <a:solidFill>
                  <a:srgbClr val="6B7B87"/>
                </a:solidFill>
                <a:latin typeface="Calibri" pitchFamily="34" charset="0"/>
                <a:ea typeface="Calibri" pitchFamily="34" charset="-122"/>
                <a:cs typeface="Calibri" pitchFamily="34" charset="-120"/>
              </a:rPr>
              <a:t>The gap is not data, and it is not accuracy.</a:t>
            </a:r>
            <a:endParaRPr lang="en-US" sz="1500" dirty="0"/>
          </a:p>
        </p:txBody>
      </p:sp>
      <p:sp>
        <p:nvSpPr>
          <p:cNvPr id="14" name="Text 12"/>
          <p:cNvSpPr/>
          <p:nvPr/>
        </p:nvSpPr>
        <p:spPr>
          <a:xfrm>
            <a:off x="640080" y="5029200"/>
            <a:ext cx="10881360" cy="640080"/>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The output arrives in the wrong units for the decision: millimetres per dekad, when the decision is denominated in pounds, hectares and cubic metres.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58368"/>
          </a:xfrm>
          <a:prstGeom prst="rect">
            <a:avLst/>
          </a:prstGeom>
          <a:noFill/>
          <a:ln/>
        </p:spPr>
        <p:txBody>
          <a:bodyPr wrap="square" lIns="0" tIns="0" rIns="0" bIns="0" rtlCol="0" anchor="ctr"/>
          <a:lstStyle/>
          <a:p>
            <a:pPr indent="0" marL="0">
              <a:buNone/>
            </a:pPr>
            <a:r>
              <a:rPr lang="en-US" sz="3400" b="1" dirty="0">
                <a:solidFill>
                  <a:srgbClr val="0B3C5D"/>
                </a:solidFill>
                <a:latin typeface="Cambria" pitchFamily="34" charset="0"/>
                <a:ea typeface="Cambria" pitchFamily="34" charset="-122"/>
                <a:cs typeface="Cambria" pitchFamily="34" charset="-120"/>
              </a:rPr>
              <a:t>WaPOR knows which water grew something</a:t>
            </a:r>
            <a:endParaRPr lang="en-US" sz="3400" dirty="0"/>
          </a:p>
        </p:txBody>
      </p:sp>
      <p:sp>
        <p:nvSpPr>
          <p:cNvPr id="3" name="Text 1"/>
          <p:cNvSpPr/>
          <p:nvPr/>
        </p:nvSpPr>
        <p:spPr>
          <a:xfrm>
            <a:off x="640080" y="1060704"/>
            <a:ext cx="10908792" cy="384048"/>
          </a:xfrm>
          <a:prstGeom prst="rect">
            <a:avLst/>
          </a:prstGeom>
          <a:noFill/>
          <a:ln/>
        </p:spPr>
        <p:txBody>
          <a:bodyPr wrap="square" lIns="0" tIns="0" rIns="0" bIns="0" rtlCol="0" anchor="ctr"/>
          <a:lstStyle/>
          <a:p>
            <a:pPr indent="0" marL="0">
              <a:buNone/>
            </a:pPr>
            <a:r>
              <a:rPr lang="en-US" sz="1500" dirty="0">
                <a:solidFill>
                  <a:srgbClr val="6B7B87"/>
                </a:solidFill>
                <a:latin typeface="Calibri" pitchFamily="34" charset="0"/>
                <a:ea typeface="Calibri" pitchFamily="34" charset="-122"/>
                <a:cs typeface="Calibri" pitchFamily="34" charset="-120"/>
              </a:rPr>
              <a:t>It reports evaporation, transpiration and interception as separate layers. Nobody converts that into money.</a:t>
            </a:r>
            <a:endParaRPr lang="en-US" sz="1500" dirty="0"/>
          </a:p>
        </p:txBody>
      </p:sp>
      <p:sp>
        <p:nvSpPr>
          <p:cNvPr id="4" name="Shape 2"/>
          <p:cNvSpPr/>
          <p:nvPr/>
        </p:nvSpPr>
        <p:spPr>
          <a:xfrm>
            <a:off x="640080" y="2103120"/>
            <a:ext cx="6855257" cy="960120"/>
          </a:xfrm>
          <a:prstGeom prst="roundRect">
            <a:avLst>
              <a:gd name="adj" fmla="val 5714"/>
            </a:avLst>
          </a:prstGeom>
          <a:solidFill>
            <a:srgbClr val="2A78D6"/>
          </a:solidFill>
          <a:ln w="25400">
            <a:solidFill>
              <a:srgbClr val="FFFFFF"/>
            </a:solidFill>
            <a:prstDash val="solid"/>
          </a:ln>
        </p:spPr>
      </p:sp>
      <p:sp>
        <p:nvSpPr>
          <p:cNvPr id="5" name="Shape 3"/>
          <p:cNvSpPr/>
          <p:nvPr/>
        </p:nvSpPr>
        <p:spPr>
          <a:xfrm>
            <a:off x="7549744" y="2103120"/>
            <a:ext cx="3754069" cy="960120"/>
          </a:xfrm>
          <a:prstGeom prst="roundRect">
            <a:avLst>
              <a:gd name="adj" fmla="val 5714"/>
            </a:avLst>
          </a:prstGeom>
          <a:solidFill>
            <a:srgbClr val="D96F32"/>
          </a:solidFill>
          <a:ln w="25400">
            <a:solidFill>
              <a:srgbClr val="FFFFFF"/>
            </a:solidFill>
            <a:prstDash val="solid"/>
          </a:ln>
        </p:spPr>
      </p:sp>
      <p:sp>
        <p:nvSpPr>
          <p:cNvPr id="6" name="Text 4"/>
          <p:cNvSpPr/>
          <p:nvPr/>
        </p:nvSpPr>
        <p:spPr>
          <a:xfrm>
            <a:off x="868680" y="2267712"/>
            <a:ext cx="4572000" cy="320040"/>
          </a:xfrm>
          <a:prstGeom prst="rect">
            <a:avLst/>
          </a:prstGeom>
          <a:noFill/>
          <a:ln/>
        </p:spPr>
        <p:txBody>
          <a:bodyPr wrap="square" lIns="0" tIns="0" rIns="0" bIns="0" rtlCol="0" anchor="ctr"/>
          <a:lstStyle/>
          <a:p>
            <a:pPr indent="0" marL="0">
              <a:buNone/>
            </a:pPr>
            <a:r>
              <a:rPr lang="en-US" sz="1500" b="1" spc="120" kern="0" dirty="0">
                <a:solidFill>
                  <a:srgbClr val="FFFFFF"/>
                </a:solidFill>
                <a:latin typeface="Calibri" pitchFamily="34" charset="0"/>
                <a:ea typeface="Calibri" pitchFamily="34" charset="-122"/>
                <a:cs typeface="Calibri" pitchFamily="34" charset="-120"/>
              </a:rPr>
              <a:t>TRANSPIRATION</a:t>
            </a:r>
            <a:endParaRPr lang="en-US" sz="1500" dirty="0"/>
          </a:p>
        </p:txBody>
      </p:sp>
      <p:sp>
        <p:nvSpPr>
          <p:cNvPr id="7" name="Text 5"/>
          <p:cNvSpPr/>
          <p:nvPr/>
        </p:nvSpPr>
        <p:spPr>
          <a:xfrm>
            <a:off x="868680" y="2606040"/>
            <a:ext cx="5486400" cy="320040"/>
          </a:xfrm>
          <a:prstGeom prst="rect">
            <a:avLst/>
          </a:prstGeom>
          <a:noFill/>
          <a:ln/>
        </p:spPr>
        <p:txBody>
          <a:bodyPr wrap="square" lIns="0" tIns="0" rIns="0" bIns="0" rtlCol="0" anchor="ctr"/>
          <a:lstStyle/>
          <a:p>
            <a:pPr indent="0" marL="0">
              <a:buNone/>
            </a:pPr>
            <a:r>
              <a:rPr lang="en-US" sz="1400" dirty="0">
                <a:solidFill>
                  <a:srgbClr val="D8E8F8"/>
                </a:solidFill>
                <a:latin typeface="Calibri" pitchFamily="34" charset="0"/>
                <a:ea typeface="Calibri" pitchFamily="34" charset="-122"/>
                <a:cs typeface="Calibri" pitchFamily="34" charset="-120"/>
              </a:rPr>
              <a:t>passed through a stoma and grew a crop</a:t>
            </a:r>
            <a:endParaRPr lang="en-US" sz="1400" dirty="0"/>
          </a:p>
        </p:txBody>
      </p:sp>
      <p:sp>
        <p:nvSpPr>
          <p:cNvPr id="8" name="Text 6"/>
          <p:cNvSpPr/>
          <p:nvPr/>
        </p:nvSpPr>
        <p:spPr>
          <a:xfrm>
            <a:off x="7750912" y="2267712"/>
            <a:ext cx="3291840" cy="320040"/>
          </a:xfrm>
          <a:prstGeom prst="rect">
            <a:avLst/>
          </a:prstGeom>
          <a:noFill/>
          <a:ln/>
        </p:spPr>
        <p:txBody>
          <a:bodyPr wrap="square" lIns="0" tIns="0" rIns="0" bIns="0" rtlCol="0" anchor="ctr"/>
          <a:lstStyle/>
          <a:p>
            <a:pPr indent="0" marL="0">
              <a:buNone/>
            </a:pPr>
            <a:r>
              <a:rPr lang="en-US" sz="1500" b="1" spc="120" kern="0" dirty="0">
                <a:solidFill>
                  <a:srgbClr val="FFFFFF"/>
                </a:solidFill>
                <a:latin typeface="Calibri" pitchFamily="34" charset="0"/>
                <a:ea typeface="Calibri" pitchFamily="34" charset="-122"/>
                <a:cs typeface="Calibri" pitchFamily="34" charset="-120"/>
              </a:rPr>
              <a:t>EVAPORATION</a:t>
            </a:r>
            <a:endParaRPr lang="en-US" sz="1500" dirty="0"/>
          </a:p>
        </p:txBody>
      </p:sp>
      <p:sp>
        <p:nvSpPr>
          <p:cNvPr id="9" name="Text 7"/>
          <p:cNvSpPr/>
          <p:nvPr/>
        </p:nvSpPr>
        <p:spPr>
          <a:xfrm>
            <a:off x="7750912" y="2606040"/>
            <a:ext cx="3566160" cy="320040"/>
          </a:xfrm>
          <a:prstGeom prst="rect">
            <a:avLst/>
          </a:prstGeom>
          <a:noFill/>
          <a:ln/>
        </p:spPr>
        <p:txBody>
          <a:bodyPr wrap="square" lIns="0" tIns="0" rIns="0" bIns="0" rtlCol="0" anchor="ctr"/>
          <a:lstStyle/>
          <a:p>
            <a:pPr indent="0" marL="0">
              <a:buNone/>
            </a:pPr>
            <a:r>
              <a:rPr lang="en-US" sz="1400" dirty="0">
                <a:solidFill>
                  <a:srgbClr val="FBE0D0"/>
                </a:solidFill>
                <a:latin typeface="Calibri" pitchFamily="34" charset="0"/>
                <a:ea typeface="Calibri" pitchFamily="34" charset="-122"/>
                <a:cs typeface="Calibri" pitchFamily="34" charset="-120"/>
              </a:rPr>
              <a:t>delivered, paid for, grew nothing</a:t>
            </a:r>
            <a:endParaRPr lang="en-US" sz="1400" dirty="0"/>
          </a:p>
        </p:txBody>
      </p:sp>
      <p:sp>
        <p:nvSpPr>
          <p:cNvPr id="10" name="Text 8"/>
          <p:cNvSpPr/>
          <p:nvPr/>
        </p:nvSpPr>
        <p:spPr>
          <a:xfrm>
            <a:off x="6306617" y="2377440"/>
            <a:ext cx="1005840" cy="411480"/>
          </a:xfrm>
          <a:prstGeom prst="rect">
            <a:avLst/>
          </a:prstGeom>
          <a:noFill/>
          <a:ln/>
        </p:spPr>
        <p:txBody>
          <a:bodyPr wrap="square" lIns="0" tIns="0" rIns="0" bIns="0" rtlCol="0" anchor="ctr"/>
          <a:lstStyle/>
          <a:p>
            <a:pPr algn="r" indent="0" marL="0">
              <a:buNone/>
            </a:pPr>
            <a:r>
              <a:rPr lang="en-US" sz="1900" b="1" dirty="0">
                <a:solidFill>
                  <a:srgbClr val="FFFFFF"/>
                </a:solidFill>
                <a:latin typeface="Cambria" pitchFamily="34" charset="0"/>
                <a:ea typeface="Cambria" pitchFamily="34" charset="-122"/>
                <a:cs typeface="Cambria" pitchFamily="34" charset="-120"/>
              </a:rPr>
              <a:t>77%</a:t>
            </a:r>
            <a:endParaRPr lang="en-US" sz="1900" dirty="0"/>
          </a:p>
        </p:txBody>
      </p:sp>
      <p:sp>
        <p:nvSpPr>
          <p:cNvPr id="11" name="Text 9"/>
          <p:cNvSpPr/>
          <p:nvPr/>
        </p:nvSpPr>
        <p:spPr>
          <a:xfrm>
            <a:off x="10252253" y="2377440"/>
            <a:ext cx="914400" cy="411480"/>
          </a:xfrm>
          <a:prstGeom prst="rect">
            <a:avLst/>
          </a:prstGeom>
          <a:noFill/>
          <a:ln/>
        </p:spPr>
        <p:txBody>
          <a:bodyPr wrap="square" lIns="0" tIns="0" rIns="0" bIns="0" rtlCol="0" anchor="ctr"/>
          <a:lstStyle/>
          <a:p>
            <a:pPr algn="r" indent="0" marL="0">
              <a:buNone/>
            </a:pPr>
            <a:r>
              <a:rPr lang="en-US" sz="1900" b="1" dirty="0">
                <a:solidFill>
                  <a:srgbClr val="FFFFFF"/>
                </a:solidFill>
                <a:latin typeface="Cambria" pitchFamily="34" charset="0"/>
                <a:ea typeface="Cambria" pitchFamily="34" charset="-122"/>
                <a:cs typeface="Cambria" pitchFamily="34" charset="-120"/>
              </a:rPr>
              <a:t>23%</a:t>
            </a:r>
            <a:endParaRPr lang="en-US" sz="1900" dirty="0"/>
          </a:p>
        </p:txBody>
      </p:sp>
      <p:sp>
        <p:nvSpPr>
          <p:cNvPr id="12" name="Text 10"/>
          <p:cNvSpPr/>
          <p:nvPr/>
        </p:nvSpPr>
        <p:spPr>
          <a:xfrm>
            <a:off x="640080" y="3154680"/>
            <a:ext cx="10881360" cy="292608"/>
          </a:xfrm>
          <a:prstGeom prst="rect">
            <a:avLst/>
          </a:prstGeom>
          <a:noFill/>
          <a:ln/>
        </p:spPr>
        <p:txBody>
          <a:bodyPr wrap="square" lIns="0" tIns="0" rIns="0" bIns="0" rtlCol="0" anchor="ctr"/>
          <a:lstStyle/>
          <a:p>
            <a:pPr indent="0" marL="0">
              <a:buNone/>
            </a:pPr>
            <a:r>
              <a:rPr lang="en-US" sz="1350" i="1" dirty="0">
                <a:solidFill>
                  <a:srgbClr val="6B7B87"/>
                </a:solidFill>
                <a:latin typeface="Calibri" pitchFamily="34" charset="0"/>
                <a:ea typeface="Calibri" pitchFamily="34" charset="-122"/>
                <a:cs typeface="Calibri" pitchFamily="34" charset="-120"/>
              </a:rPr>
              <a:t>Study-area average share of all water consumed, measured over 18 dekads. The orange share runs from 0.16 to 0.29 across governorates; the volume behind it varies far more.</a:t>
            </a:r>
            <a:endParaRPr lang="en-US" sz="1350" dirty="0"/>
          </a:p>
        </p:txBody>
      </p:sp>
      <p:sp>
        <p:nvSpPr>
          <p:cNvPr id="13" name="Text 11"/>
          <p:cNvSpPr/>
          <p:nvPr/>
        </p:nvSpPr>
        <p:spPr>
          <a:xfrm>
            <a:off x="640080" y="3703320"/>
            <a:ext cx="3291840" cy="868680"/>
          </a:xfrm>
          <a:prstGeom prst="rect">
            <a:avLst/>
          </a:prstGeom>
          <a:noFill/>
          <a:ln/>
        </p:spPr>
        <p:txBody>
          <a:bodyPr wrap="square" lIns="0" tIns="0" rIns="0" bIns="0" rtlCol="0" anchor="ctr"/>
          <a:lstStyle/>
          <a:p>
            <a:pPr algn="l" indent="0" marL="0">
              <a:buNone/>
            </a:pPr>
            <a:r>
              <a:rPr lang="en-US" sz="4400" b="1" dirty="0">
                <a:solidFill>
                  <a:srgbClr val="D96F32"/>
                </a:solidFill>
                <a:latin typeface="Cambria" pitchFamily="34" charset="0"/>
                <a:ea typeface="Cambria" pitchFamily="34" charset="-122"/>
                <a:cs typeface="Cambria" pitchFamily="34" charset="-120"/>
              </a:rPr>
              <a:t>4,844</a:t>
            </a:r>
            <a:endParaRPr lang="en-US" sz="4400" dirty="0"/>
          </a:p>
        </p:txBody>
      </p:sp>
      <p:sp>
        <p:nvSpPr>
          <p:cNvPr id="14" name="Text 12"/>
          <p:cNvSpPr/>
          <p:nvPr/>
        </p:nvSpPr>
        <p:spPr>
          <a:xfrm>
            <a:off x="640080" y="4572000"/>
            <a:ext cx="3291840" cy="566928"/>
          </a:xfrm>
          <a:prstGeom prst="rect">
            <a:avLst/>
          </a:prstGeom>
          <a:noFill/>
          <a:ln/>
        </p:spPr>
        <p:txBody>
          <a:bodyPr wrap="square" lIns="0" tIns="0" rIns="0" bIns="0" rtlCol="0" anchor="ctr"/>
          <a:lstStyle/>
          <a:p>
            <a:pPr algn="l" indent="0" marL="0">
              <a:buNone/>
            </a:pPr>
            <a:r>
              <a:rPr lang="en-US" sz="1400" dirty="0">
                <a:solidFill>
                  <a:srgbClr val="6B7B87"/>
                </a:solidFill>
                <a:latin typeface="Calibri" pitchFamily="34" charset="0"/>
                <a:ea typeface="Calibri" pitchFamily="34" charset="-122"/>
                <a:cs typeface="Calibri" pitchFamily="34" charset="-120"/>
              </a:rPr>
              <a:t>Mm³ evaporating each season across the study area, water already delivered and already paid for</a:t>
            </a:r>
            <a:endParaRPr lang="en-US" sz="1400" dirty="0"/>
          </a:p>
        </p:txBody>
      </p:sp>
      <p:sp>
        <p:nvSpPr>
          <p:cNvPr id="15" name="Text 13"/>
          <p:cNvSpPr/>
          <p:nvPr/>
        </p:nvSpPr>
        <p:spPr>
          <a:xfrm>
            <a:off x="4297680" y="3703320"/>
            <a:ext cx="3566160" cy="868680"/>
          </a:xfrm>
          <a:prstGeom prst="rect">
            <a:avLst/>
          </a:prstGeom>
          <a:noFill/>
          <a:ln/>
        </p:spPr>
        <p:txBody>
          <a:bodyPr wrap="square" lIns="0" tIns="0" rIns="0" bIns="0" rtlCol="0" anchor="ctr"/>
          <a:lstStyle/>
          <a:p>
            <a:pPr algn="l" indent="0" marL="0">
              <a:buNone/>
            </a:pPr>
            <a:r>
              <a:rPr lang="en-US" sz="3000" b="1" dirty="0">
                <a:solidFill>
                  <a:srgbClr val="1C7293"/>
                </a:solidFill>
                <a:latin typeface="Cambria" pitchFamily="34" charset="0"/>
                <a:ea typeface="Cambria" pitchFamily="34" charset="-122"/>
                <a:cs typeface="Cambria" pitchFamily="34" charset="-120"/>
              </a:rPr>
              <a:t>Recoverable</a:t>
            </a:r>
            <a:endParaRPr lang="en-US" sz="3000" dirty="0"/>
          </a:p>
        </p:txBody>
      </p:sp>
      <p:sp>
        <p:nvSpPr>
          <p:cNvPr id="16" name="Text 14"/>
          <p:cNvSpPr/>
          <p:nvPr/>
        </p:nvSpPr>
        <p:spPr>
          <a:xfrm>
            <a:off x="4297680" y="4572000"/>
            <a:ext cx="3566160" cy="566928"/>
          </a:xfrm>
          <a:prstGeom prst="rect">
            <a:avLst/>
          </a:prstGeom>
          <a:noFill/>
          <a:ln/>
        </p:spPr>
        <p:txBody>
          <a:bodyPr wrap="square" lIns="0" tIns="0" rIns="0" bIns="0" rtlCol="0" anchor="ctr"/>
          <a:lstStyle/>
          <a:p>
            <a:pPr algn="l" indent="0" marL="0">
              <a:buNone/>
            </a:pPr>
            <a:r>
              <a:rPr lang="en-US" sz="1400" dirty="0">
                <a:solidFill>
                  <a:srgbClr val="6B7B87"/>
                </a:solidFill>
                <a:latin typeface="Calibri" pitchFamily="34" charset="0"/>
                <a:ea typeface="Calibri" pitchFamily="34" charset="-122"/>
                <a:cs typeface="Calibri" pitchFamily="34" charset="-120"/>
              </a:rPr>
              <a:t>with measures that already exist in Egypt: laser levelling, mulching, better rice water management</a:t>
            </a:r>
            <a:endParaRPr lang="en-US" sz="1400" dirty="0"/>
          </a:p>
        </p:txBody>
      </p:sp>
      <p:sp>
        <p:nvSpPr>
          <p:cNvPr id="17" name="Text 15"/>
          <p:cNvSpPr/>
          <p:nvPr/>
        </p:nvSpPr>
        <p:spPr>
          <a:xfrm>
            <a:off x="8229600" y="3703320"/>
            <a:ext cx="3291840" cy="868680"/>
          </a:xfrm>
          <a:prstGeom prst="rect">
            <a:avLst/>
          </a:prstGeom>
          <a:noFill/>
          <a:ln/>
        </p:spPr>
        <p:txBody>
          <a:bodyPr wrap="square" lIns="0" tIns="0" rIns="0" bIns="0" rtlCol="0" anchor="ctr"/>
          <a:lstStyle/>
          <a:p>
            <a:pPr algn="l" indent="0" marL="0">
              <a:buNone/>
            </a:pPr>
            <a:r>
              <a:rPr lang="en-US" sz="3000" b="1" dirty="0">
                <a:solidFill>
                  <a:srgbClr val="0B3C5D"/>
                </a:solidFill>
                <a:latin typeface="Cambria" pitchFamily="34" charset="0"/>
                <a:ea typeface="Cambria" pitchFamily="34" charset="-122"/>
                <a:cs typeface="Cambria" pitchFamily="34" charset="-120"/>
              </a:rPr>
              <a:t>Everywhere</a:t>
            </a:r>
            <a:endParaRPr lang="en-US" sz="3000" dirty="0"/>
          </a:p>
        </p:txBody>
      </p:sp>
      <p:sp>
        <p:nvSpPr>
          <p:cNvPr id="18" name="Text 16"/>
          <p:cNvSpPr/>
          <p:nvPr/>
        </p:nvSpPr>
        <p:spPr>
          <a:xfrm>
            <a:off x="8229600" y="4572000"/>
            <a:ext cx="3291840" cy="566928"/>
          </a:xfrm>
          <a:prstGeom prst="rect">
            <a:avLst/>
          </a:prstGeom>
          <a:noFill/>
          <a:ln/>
        </p:spPr>
        <p:txBody>
          <a:bodyPr wrap="square" lIns="0" tIns="0" rIns="0" bIns="0" rtlCol="0" anchor="ctr"/>
          <a:lstStyle/>
          <a:p>
            <a:pPr algn="l" indent="0" marL="0">
              <a:buNone/>
            </a:pPr>
            <a:r>
              <a:rPr lang="en-US" sz="1400" dirty="0">
                <a:solidFill>
                  <a:srgbClr val="6B7B87"/>
                </a:solidFill>
                <a:latin typeface="Calibri" pitchFamily="34" charset="0"/>
                <a:ea typeface="Calibri" pitchFamily="34" charset="-122"/>
                <a:cs typeface="Calibri" pitchFamily="34" charset="-120"/>
              </a:rPr>
              <a:t>no new instruments, no new field campaign, the data exists today for every WaPOR country</a:t>
            </a:r>
            <a:endParaRPr lang="en-US" sz="1400" dirty="0"/>
          </a:p>
        </p:txBody>
      </p:sp>
      <p:sp>
        <p:nvSpPr>
          <p:cNvPr id="19" name="Shape 17"/>
          <p:cNvSpPr/>
          <p:nvPr/>
        </p:nvSpPr>
        <p:spPr>
          <a:xfrm>
            <a:off x="640080" y="5349240"/>
            <a:ext cx="10881360" cy="841248"/>
          </a:xfrm>
          <a:prstGeom prst="roundRect">
            <a:avLst>
              <a:gd name="adj" fmla="val 8696"/>
            </a:avLst>
          </a:prstGeom>
          <a:solidFill>
            <a:srgbClr val="FDF3EC"/>
          </a:solidFill>
          <a:ln w="12700">
            <a:solidFill>
              <a:srgbClr val="F0D9C8"/>
            </a:solidFill>
            <a:prstDash val="solid"/>
          </a:ln>
        </p:spPr>
      </p:sp>
      <p:sp>
        <p:nvSpPr>
          <p:cNvPr id="20" name="Text 18"/>
          <p:cNvSpPr/>
          <p:nvPr/>
        </p:nvSpPr>
        <p:spPr>
          <a:xfrm>
            <a:off x="914400" y="5504688"/>
            <a:ext cx="10332720" cy="548640"/>
          </a:xfrm>
          <a:prstGeom prst="rect">
            <a:avLst/>
          </a:prstGeom>
          <a:noFill/>
          <a:ln/>
        </p:spPr>
        <p:txBody>
          <a:bodyPr wrap="square" lIns="0" tIns="0" rIns="0" bIns="0" rtlCol="0" anchor="ctr"/>
          <a:lstStyle/>
          <a:p>
            <a:pPr indent="0" marL="0">
              <a:buNone/>
            </a:pPr>
            <a:r>
              <a:rPr lang="en-US" sz="1400" dirty="0">
                <a:solidFill>
                  <a:srgbClr val="14202A"/>
                </a:solidFill>
                <a:latin typeface="Calibri" pitchFamily="34" charset="0"/>
                <a:ea typeface="Calibri" pitchFamily="34" charset="-122"/>
                <a:cs typeface="Calibri" pitchFamily="34" charset="-120"/>
              </a:rPr>
              <a:t>So the question of where the money should go has a measured answer:  </a:t>
            </a:r>
            <a:pPr indent="0" marL="0">
              <a:buNone/>
            </a:pPr>
            <a:r>
              <a:rPr lang="en-US" sz="1400" b="1" dirty="0">
                <a:solidFill>
                  <a:srgbClr val="D96F32"/>
                </a:solidFill>
                <a:latin typeface="Calibri" pitchFamily="34" charset="0"/>
                <a:ea typeface="Calibri" pitchFamily="34" charset="-122"/>
                <a:cs typeface="Calibri" pitchFamily="34" charset="-120"/>
              </a:rPr>
              <a:t>wherever a pound of spending recovers the most evaporated water.</a:t>
            </a:r>
            <a:endParaRPr lang="en-US" sz="1400" dirty="0"/>
          </a:p>
        </p:txBody>
      </p:sp>
      <p:sp>
        <p:nvSpPr>
          <p:cNvPr id="21" name="Text 19"/>
          <p:cNvSpPr/>
          <p:nvPr/>
        </p:nvSpPr>
        <p:spPr>
          <a:xfrm>
            <a:off x="640080" y="6291072"/>
            <a:ext cx="10908792" cy="310896"/>
          </a:xfrm>
          <a:prstGeom prst="rect">
            <a:avLst/>
          </a:prstGeom>
          <a:noFill/>
          <a:ln/>
        </p:spPr>
        <p:txBody>
          <a:bodyPr wrap="square" lIns="0" tIns="0" rIns="0" bIns="0" rtlCol="0" anchor="ctr"/>
          <a:lstStyle/>
          <a:p>
            <a:pPr indent="0" marL="0">
              <a:buNone/>
            </a:pPr>
            <a:r>
              <a:rPr lang="en-US" sz="1100" i="1" dirty="0">
                <a:solidFill>
                  <a:srgbClr val="6B7B87"/>
                </a:solidFill>
                <a:latin typeface="Calibri" pitchFamily="34" charset="0"/>
                <a:ea typeface="Calibri" pitchFamily="34" charset="-122"/>
                <a:cs typeface="Calibri" pitchFamily="34" charset="-120"/>
              </a:rPr>
              <a:t>Recoverable evaporation is an upper bound: some avoided evaporation becomes transpiration and yield rather than saved water.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58368"/>
          </a:xfrm>
          <a:prstGeom prst="rect">
            <a:avLst/>
          </a:prstGeom>
          <a:noFill/>
          <a:ln/>
        </p:spPr>
        <p:txBody>
          <a:bodyPr wrap="square" lIns="0" tIns="0" rIns="0" bIns="0" rtlCol="0" anchor="ctr"/>
          <a:lstStyle/>
          <a:p>
            <a:pPr indent="0" marL="0">
              <a:buNone/>
            </a:pPr>
            <a:r>
              <a:rPr lang="en-US" sz="3400" b="1" dirty="0">
                <a:solidFill>
                  <a:srgbClr val="0B3C5D"/>
                </a:solidFill>
                <a:latin typeface="Cambria" pitchFamily="34" charset="0"/>
                <a:ea typeface="Cambria" pitchFamily="34" charset="-122"/>
                <a:cs typeface="Cambria" pitchFamily="34" charset="-120"/>
              </a:rPr>
              <a:t>The mandate, the gap in it, and why this tool fills it</a:t>
            </a:r>
            <a:endParaRPr lang="en-US" sz="3400" dirty="0"/>
          </a:p>
        </p:txBody>
      </p:sp>
      <p:sp>
        <p:nvSpPr>
          <p:cNvPr id="3" name="Text 1"/>
          <p:cNvSpPr/>
          <p:nvPr/>
        </p:nvSpPr>
        <p:spPr>
          <a:xfrm>
            <a:off x="640080" y="1060704"/>
            <a:ext cx="10908792" cy="384048"/>
          </a:xfrm>
          <a:prstGeom prst="rect">
            <a:avLst/>
          </a:prstGeom>
          <a:noFill/>
          <a:ln/>
        </p:spPr>
        <p:txBody>
          <a:bodyPr wrap="square" lIns="0" tIns="0" rIns="0" bIns="0" rtlCol="0" anchor="ctr"/>
          <a:lstStyle/>
          <a:p>
            <a:pPr indent="0" marL="0">
              <a:buNone/>
            </a:pPr>
            <a:r>
              <a:rPr lang="en-US" sz="1500" dirty="0">
                <a:solidFill>
                  <a:srgbClr val="6B7B87"/>
                </a:solidFill>
                <a:latin typeface="Calibri" pitchFamily="34" charset="0"/>
                <a:ea typeface="Calibri" pitchFamily="34" charset="-122"/>
                <a:cs typeface="Calibri" pitchFamily="34" charset="-120"/>
              </a:rPr>
              <a:t>Who makes the decision, what they are deciding, and where this tool already sits.</a:t>
            </a:r>
            <a:endParaRPr lang="en-US" sz="1500" dirty="0"/>
          </a:p>
        </p:txBody>
      </p:sp>
      <p:sp>
        <p:nvSpPr>
          <p:cNvPr id="4" name="Shape 2"/>
          <p:cNvSpPr/>
          <p:nvPr/>
        </p:nvSpPr>
        <p:spPr>
          <a:xfrm>
            <a:off x="640080" y="1737360"/>
            <a:ext cx="3429000" cy="3977640"/>
          </a:xfrm>
          <a:prstGeom prst="roundRect">
            <a:avLst>
              <a:gd name="adj" fmla="val 2133"/>
            </a:avLst>
          </a:prstGeom>
          <a:solidFill>
            <a:srgbClr val="F4F7F9"/>
          </a:solidFill>
          <a:ln w="12700">
            <a:solidFill>
              <a:srgbClr val="E2E9ED"/>
            </a:solidFill>
            <a:prstDash val="solid"/>
          </a:ln>
        </p:spPr>
      </p:sp>
      <p:sp>
        <p:nvSpPr>
          <p:cNvPr id="5" name="Text 3"/>
          <p:cNvSpPr/>
          <p:nvPr/>
        </p:nvSpPr>
        <p:spPr>
          <a:xfrm>
            <a:off x="896112" y="1901952"/>
            <a:ext cx="2916936" cy="256032"/>
          </a:xfrm>
          <a:prstGeom prst="rect">
            <a:avLst/>
          </a:prstGeom>
          <a:noFill/>
          <a:ln/>
        </p:spPr>
        <p:txBody>
          <a:bodyPr wrap="square" lIns="0" tIns="0" rIns="0" bIns="0" rtlCol="0" anchor="ctr"/>
          <a:lstStyle/>
          <a:p>
            <a:pPr indent="0" marL="0">
              <a:buNone/>
            </a:pPr>
            <a:r>
              <a:rPr lang="en-US" sz="1000" b="1" spc="130" kern="0" dirty="0">
                <a:solidFill>
                  <a:srgbClr val="1C7293"/>
                </a:solidFill>
                <a:latin typeface="Calibri" pitchFamily="34" charset="0"/>
                <a:ea typeface="Calibri" pitchFamily="34" charset="-122"/>
                <a:cs typeface="Calibri" pitchFamily="34" charset="-120"/>
              </a:rPr>
              <a:t>THE MANDATE</a:t>
            </a:r>
            <a:endParaRPr lang="en-US" sz="1000" dirty="0"/>
          </a:p>
        </p:txBody>
      </p:sp>
      <p:sp>
        <p:nvSpPr>
          <p:cNvPr id="6" name="Text 4"/>
          <p:cNvSpPr/>
          <p:nvPr/>
        </p:nvSpPr>
        <p:spPr>
          <a:xfrm>
            <a:off x="896112" y="2176272"/>
            <a:ext cx="2916936" cy="566928"/>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Ministry of Water Resources and Irrigation</a:t>
            </a:r>
            <a:endParaRPr lang="en-US" sz="1500" dirty="0"/>
          </a:p>
        </p:txBody>
      </p:sp>
      <p:sp>
        <p:nvSpPr>
          <p:cNvPr id="7" name="Text 5"/>
          <p:cNvSpPr/>
          <p:nvPr/>
        </p:nvSpPr>
        <p:spPr>
          <a:xfrm>
            <a:off x="896112" y="2788920"/>
            <a:ext cx="2916936" cy="169164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Allocates and manages Egypt’s Nile share under the National Water Resources Plan, and is accountable to the Ministry of Finance for what the on-farm modernisation budget delivers. Its remit is explicitly to raise water-use efficiency. Egypt has roughly 55 BCM a year and around 110 million people.</a:t>
            </a:r>
            <a:endParaRPr lang="en-US" sz="1350" dirty="0"/>
          </a:p>
        </p:txBody>
      </p:sp>
      <p:sp>
        <p:nvSpPr>
          <p:cNvPr id="8" name="Text 6"/>
          <p:cNvSpPr/>
          <p:nvPr/>
        </p:nvSpPr>
        <p:spPr>
          <a:xfrm>
            <a:off x="896112" y="4526280"/>
            <a:ext cx="2916936" cy="1097280"/>
          </a:xfrm>
          <a:prstGeom prst="rect">
            <a:avLst/>
          </a:prstGeom>
          <a:noFill/>
          <a:ln/>
        </p:spPr>
        <p:txBody>
          <a:bodyPr wrap="square" lIns="0" tIns="0" rIns="0" bIns="0" rtlCol="0" anchor="ctr"/>
          <a:lstStyle/>
          <a:p>
            <a:pPr indent="0" marL="0">
              <a:buNone/>
            </a:pPr>
            <a:r>
              <a:rPr lang="en-US" sz="1350" i="1" dirty="0">
                <a:solidFill>
                  <a:srgbClr val="6B7B87"/>
                </a:solidFill>
                <a:latin typeface="Calibri" pitchFamily="34" charset="0"/>
                <a:ea typeface="Calibri" pitchFamily="34" charset="-122"/>
                <a:cs typeface="Calibri" pitchFamily="34" charset="-120"/>
              </a:rPr>
              <a:t>The decision-maker is the annual budget committee, working on an annual cycle, under pressure to spread allocations evenly across governorates.</a:t>
            </a:r>
            <a:endParaRPr lang="en-US" sz="1350" dirty="0"/>
          </a:p>
        </p:txBody>
      </p:sp>
      <p:sp>
        <p:nvSpPr>
          <p:cNvPr id="9" name="Shape 7"/>
          <p:cNvSpPr/>
          <p:nvPr/>
        </p:nvSpPr>
        <p:spPr>
          <a:xfrm>
            <a:off x="4297680" y="1737360"/>
            <a:ext cx="3429000" cy="3977640"/>
          </a:xfrm>
          <a:prstGeom prst="roundRect">
            <a:avLst>
              <a:gd name="adj" fmla="val 2133"/>
            </a:avLst>
          </a:prstGeom>
          <a:solidFill>
            <a:srgbClr val="FDF3EC"/>
          </a:solidFill>
          <a:ln w="12700">
            <a:solidFill>
              <a:srgbClr val="E2E9ED"/>
            </a:solidFill>
            <a:prstDash val="solid"/>
          </a:ln>
        </p:spPr>
      </p:sp>
      <p:sp>
        <p:nvSpPr>
          <p:cNvPr id="10" name="Text 8"/>
          <p:cNvSpPr/>
          <p:nvPr/>
        </p:nvSpPr>
        <p:spPr>
          <a:xfrm>
            <a:off x="4553712" y="1901952"/>
            <a:ext cx="2916936" cy="256032"/>
          </a:xfrm>
          <a:prstGeom prst="rect">
            <a:avLst/>
          </a:prstGeom>
          <a:noFill/>
          <a:ln/>
        </p:spPr>
        <p:txBody>
          <a:bodyPr wrap="square" lIns="0" tIns="0" rIns="0" bIns="0" rtlCol="0" anchor="ctr"/>
          <a:lstStyle/>
          <a:p>
            <a:pPr indent="0" marL="0">
              <a:buNone/>
            </a:pPr>
            <a:r>
              <a:rPr lang="en-US" sz="1000" b="1" spc="130" kern="0" dirty="0">
                <a:solidFill>
                  <a:srgbClr val="D96F32"/>
                </a:solidFill>
                <a:latin typeface="Calibri" pitchFamily="34" charset="0"/>
                <a:ea typeface="Calibri" pitchFamily="34" charset="-122"/>
                <a:cs typeface="Calibri" pitchFamily="34" charset="-120"/>
              </a:rPr>
              <a:t>THE CHALLENGE</a:t>
            </a:r>
            <a:endParaRPr lang="en-US" sz="1000" dirty="0"/>
          </a:p>
        </p:txBody>
      </p:sp>
      <p:sp>
        <p:nvSpPr>
          <p:cNvPr id="11" name="Text 9"/>
          <p:cNvSpPr/>
          <p:nvPr/>
        </p:nvSpPr>
        <p:spPr>
          <a:xfrm>
            <a:off x="4553712" y="2176272"/>
            <a:ext cx="2916936" cy="566928"/>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A mandate to save water, no evidence on where</a:t>
            </a:r>
            <a:endParaRPr lang="en-US" sz="1500" dirty="0"/>
          </a:p>
        </p:txBody>
      </p:sp>
      <p:sp>
        <p:nvSpPr>
          <p:cNvPr id="12" name="Text 10"/>
          <p:cNvSpPr/>
          <p:nvPr/>
        </p:nvSpPr>
        <p:spPr>
          <a:xfrm>
            <a:off x="4553712" y="2788920"/>
            <a:ext cx="2916936" cy="169164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The committee must decide which governorates receive this season’s budget, and in what proportion. Today that split can only be defended by cultivated area or by political balance, because nothing tells it where a pound of subsidy recovers the most water.</a:t>
            </a:r>
            <a:endParaRPr lang="en-US" sz="1350" dirty="0"/>
          </a:p>
        </p:txBody>
      </p:sp>
      <p:sp>
        <p:nvSpPr>
          <p:cNvPr id="13" name="Text 11"/>
          <p:cNvSpPr/>
          <p:nvPr/>
        </p:nvSpPr>
        <p:spPr>
          <a:xfrm>
            <a:off x="4553712" y="4526280"/>
            <a:ext cx="2916936" cy="1097280"/>
          </a:xfrm>
          <a:prstGeom prst="rect">
            <a:avLst/>
          </a:prstGeom>
          <a:noFill/>
          <a:ln/>
        </p:spPr>
        <p:txBody>
          <a:bodyPr wrap="square" lIns="0" tIns="0" rIns="0" bIns="0" rtlCol="0" anchor="ctr"/>
          <a:lstStyle/>
          <a:p>
            <a:pPr indent="0" marL="0">
              <a:buNone/>
            </a:pPr>
            <a:r>
              <a:rPr lang="en-US" sz="1350" i="1" dirty="0">
                <a:solidFill>
                  <a:srgbClr val="6B7B87"/>
                </a:solidFill>
                <a:latin typeface="Calibri" pitchFamily="34" charset="0"/>
                <a:ea typeface="Calibri" pitchFamily="34" charset="-122"/>
                <a:cs typeface="Calibri" pitchFamily="34" charset="-120"/>
              </a:rPr>
              <a:t>The gap is not data, and it is not accuracy. The output arrives in millimetres per dekad; the decision is denominated in pounds, feddans and cubic metres.</a:t>
            </a:r>
            <a:endParaRPr lang="en-US" sz="1350" dirty="0"/>
          </a:p>
        </p:txBody>
      </p:sp>
      <p:sp>
        <p:nvSpPr>
          <p:cNvPr id="14" name="Shape 12"/>
          <p:cNvSpPr/>
          <p:nvPr/>
        </p:nvSpPr>
        <p:spPr>
          <a:xfrm>
            <a:off x="7955280" y="1737360"/>
            <a:ext cx="3429000" cy="3977640"/>
          </a:xfrm>
          <a:prstGeom prst="roundRect">
            <a:avLst>
              <a:gd name="adj" fmla="val 2133"/>
            </a:avLst>
          </a:prstGeom>
          <a:solidFill>
            <a:srgbClr val="F4F7F9"/>
          </a:solidFill>
          <a:ln w="12700">
            <a:solidFill>
              <a:srgbClr val="E2E9ED"/>
            </a:solidFill>
            <a:prstDash val="solid"/>
          </a:ln>
        </p:spPr>
      </p:sp>
      <p:sp>
        <p:nvSpPr>
          <p:cNvPr id="15" name="Text 13"/>
          <p:cNvSpPr/>
          <p:nvPr/>
        </p:nvSpPr>
        <p:spPr>
          <a:xfrm>
            <a:off x="8211312" y="1901952"/>
            <a:ext cx="2916936" cy="256032"/>
          </a:xfrm>
          <a:prstGeom prst="rect">
            <a:avLst/>
          </a:prstGeom>
          <a:noFill/>
          <a:ln/>
        </p:spPr>
        <p:txBody>
          <a:bodyPr wrap="square" lIns="0" tIns="0" rIns="0" bIns="0" rtlCol="0" anchor="ctr"/>
          <a:lstStyle/>
          <a:p>
            <a:pPr indent="0" marL="0">
              <a:buNone/>
            </a:pPr>
            <a:r>
              <a:rPr lang="en-US" sz="1000" b="1" spc="130" kern="0" dirty="0">
                <a:solidFill>
                  <a:srgbClr val="0B3C5D"/>
                </a:solidFill>
                <a:latin typeface="Calibri" pitchFamily="34" charset="0"/>
                <a:ea typeface="Calibri" pitchFamily="34" charset="-122"/>
                <a:cs typeface="Calibri" pitchFamily="34" charset="-120"/>
              </a:rPr>
              <a:t>THE ALIGNMENT</a:t>
            </a:r>
            <a:endParaRPr lang="en-US" sz="1000" dirty="0"/>
          </a:p>
        </p:txBody>
      </p:sp>
      <p:sp>
        <p:nvSpPr>
          <p:cNvPr id="16" name="Text 14"/>
          <p:cNvSpPr/>
          <p:nvPr/>
        </p:nvSpPr>
        <p:spPr>
          <a:xfrm>
            <a:off x="8211312" y="2176272"/>
            <a:ext cx="2916936" cy="566928"/>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IPAT already sits inside the mandate</a:t>
            </a:r>
            <a:endParaRPr lang="en-US" sz="1500" dirty="0"/>
          </a:p>
        </p:txBody>
      </p:sp>
      <p:sp>
        <p:nvSpPr>
          <p:cNvPr id="17" name="Text 15"/>
          <p:cNvSpPr/>
          <p:nvPr/>
        </p:nvSpPr>
        <p:spPr>
          <a:xfrm>
            <a:off x="8211312" y="2788920"/>
            <a:ext cx="2916936" cy="169164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IPAT is operational at MWRI on WaPOR v3 Level 3 across roughly 1.5 Mha of the Middle and West Delta. It shows, accurately, where water productivity is high and low, and stops there.</a:t>
            </a:r>
            <a:endParaRPr lang="en-US" sz="1350" dirty="0"/>
          </a:p>
        </p:txBody>
      </p:sp>
      <p:sp>
        <p:nvSpPr>
          <p:cNvPr id="18" name="Text 16"/>
          <p:cNvSpPr/>
          <p:nvPr/>
        </p:nvSpPr>
        <p:spPr>
          <a:xfrm>
            <a:off x="8211312" y="4526280"/>
            <a:ext cx="2916936" cy="1097280"/>
          </a:xfrm>
          <a:prstGeom prst="rect">
            <a:avLst/>
          </a:prstGeom>
          <a:noFill/>
          <a:ln/>
        </p:spPr>
        <p:txBody>
          <a:bodyPr wrap="square" lIns="0" tIns="0" rIns="0" bIns="0" rtlCol="0" anchor="ctr"/>
          <a:lstStyle/>
          <a:p>
            <a:pPr indent="0" marL="0">
              <a:buNone/>
            </a:pPr>
            <a:r>
              <a:rPr lang="en-US" sz="1350" i="1" dirty="0">
                <a:solidFill>
                  <a:srgbClr val="6B7B87"/>
                </a:solidFill>
                <a:latin typeface="Calibri" pitchFamily="34" charset="0"/>
                <a:ea typeface="Calibri" pitchFamily="34" charset="-122"/>
                <a:cs typeface="Calibri" pitchFamily="34" charset="-120"/>
              </a:rPr>
              <a:t>We add the one step that converts its output into the committee’s decision: rank by recoverable evaporation, price it per cubic metre, and spend down the list. No new tool, no new institution, no new meeting.</a:t>
            </a:r>
            <a:endParaRPr lang="en-US" sz="1350" dirty="0"/>
          </a:p>
        </p:txBody>
      </p:sp>
      <p:sp>
        <p:nvSpPr>
          <p:cNvPr id="19" name="Shape 17"/>
          <p:cNvSpPr/>
          <p:nvPr/>
        </p:nvSpPr>
        <p:spPr>
          <a:xfrm>
            <a:off x="640080" y="5870448"/>
            <a:ext cx="10881360" cy="566928"/>
          </a:xfrm>
          <a:prstGeom prst="roundRect">
            <a:avLst>
              <a:gd name="adj" fmla="val 12903"/>
            </a:avLst>
          </a:prstGeom>
          <a:solidFill>
            <a:srgbClr val="F0F5F8"/>
          </a:solidFill>
          <a:ln w="12700">
            <a:solidFill>
              <a:srgbClr val="D6E3EA"/>
            </a:solidFill>
            <a:prstDash val="solid"/>
          </a:ln>
        </p:spPr>
      </p:sp>
      <p:sp>
        <p:nvSpPr>
          <p:cNvPr id="20" name="Text 18"/>
          <p:cNvSpPr/>
          <p:nvPr/>
        </p:nvSpPr>
        <p:spPr>
          <a:xfrm>
            <a:off x="914400" y="5943600"/>
            <a:ext cx="10332720" cy="420624"/>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In practice:  </a:t>
            </a:r>
            <a:pPr indent="0" marL="0">
              <a:buNone/>
            </a:pPr>
            <a:r>
              <a:rPr lang="en-US" sz="1500" i="1" dirty="0">
                <a:solidFill>
                  <a:srgbClr val="14202A"/>
                </a:solidFill>
                <a:latin typeface="Calibri" pitchFamily="34" charset="0"/>
                <a:ea typeface="Calibri" pitchFamily="34" charset="-122"/>
                <a:cs typeface="Calibri" pitchFamily="34" charset="-120"/>
              </a:rPr>
              <a:t>the planning officer works down a ranked list instead of dividing the budget by cultivated area.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58368"/>
          </a:xfrm>
          <a:prstGeom prst="rect">
            <a:avLst/>
          </a:prstGeom>
          <a:noFill/>
          <a:ln/>
        </p:spPr>
        <p:txBody>
          <a:bodyPr wrap="square" lIns="0" tIns="0" rIns="0" bIns="0" rtlCol="0" anchor="ctr"/>
          <a:lstStyle/>
          <a:p>
            <a:pPr indent="0" marL="0">
              <a:buNone/>
            </a:pPr>
            <a:r>
              <a:rPr lang="en-US" sz="3400" b="1" dirty="0">
                <a:solidFill>
                  <a:srgbClr val="0B3C5D"/>
                </a:solidFill>
                <a:latin typeface="Cambria" pitchFamily="34" charset="0"/>
                <a:ea typeface="Cambria" pitchFamily="34" charset="-122"/>
                <a:cs typeface="Cambria" pitchFamily="34" charset="-120"/>
              </a:rPr>
              <a:t>The method is three lines</a:t>
            </a:r>
            <a:endParaRPr lang="en-US" sz="3400" dirty="0"/>
          </a:p>
        </p:txBody>
      </p:sp>
      <p:sp>
        <p:nvSpPr>
          <p:cNvPr id="3" name="Text 1"/>
          <p:cNvSpPr/>
          <p:nvPr/>
        </p:nvSpPr>
        <p:spPr>
          <a:xfrm>
            <a:off x="640080" y="1060704"/>
            <a:ext cx="10908792" cy="384048"/>
          </a:xfrm>
          <a:prstGeom prst="rect">
            <a:avLst/>
          </a:prstGeom>
          <a:noFill/>
          <a:ln/>
        </p:spPr>
        <p:txBody>
          <a:bodyPr wrap="square" lIns="0" tIns="0" rIns="0" bIns="0" rtlCol="0" anchor="ctr"/>
          <a:lstStyle/>
          <a:p>
            <a:pPr indent="0" marL="0">
              <a:buNone/>
            </a:pPr>
            <a:r>
              <a:rPr lang="en-US" sz="1500" dirty="0">
                <a:solidFill>
                  <a:srgbClr val="6B7B87"/>
                </a:solidFill>
                <a:latin typeface="Calibri" pitchFamily="34" charset="0"/>
                <a:ea typeface="Calibri" pitchFamily="34" charset="-122"/>
                <a:cs typeface="Calibri" pitchFamily="34" charset="-120"/>
              </a:rPr>
              <a:t>Deliberately so. Everything it depends on is visible and editable.</a:t>
            </a:r>
            <a:endParaRPr lang="en-US" sz="1500" dirty="0"/>
          </a:p>
        </p:txBody>
      </p:sp>
      <p:sp>
        <p:nvSpPr>
          <p:cNvPr id="4" name="Shape 2"/>
          <p:cNvSpPr/>
          <p:nvPr/>
        </p:nvSpPr>
        <p:spPr>
          <a:xfrm>
            <a:off x="640080" y="1783080"/>
            <a:ext cx="6949440" cy="786384"/>
          </a:xfrm>
          <a:prstGeom prst="roundRect">
            <a:avLst>
              <a:gd name="adj" fmla="val 9302"/>
            </a:avLst>
          </a:prstGeom>
          <a:solidFill>
            <a:srgbClr val="F4F7F9"/>
          </a:solidFill>
          <a:ln w="12700">
            <a:solidFill>
              <a:srgbClr val="E2E9ED"/>
            </a:solidFill>
            <a:prstDash val="solid"/>
          </a:ln>
        </p:spPr>
      </p:sp>
      <p:sp>
        <p:nvSpPr>
          <p:cNvPr id="5" name="Text 3"/>
          <p:cNvSpPr/>
          <p:nvPr/>
        </p:nvSpPr>
        <p:spPr>
          <a:xfrm>
            <a:off x="822960" y="1929384"/>
            <a:ext cx="457200" cy="493776"/>
          </a:xfrm>
          <a:prstGeom prst="rect">
            <a:avLst/>
          </a:prstGeom>
          <a:noFill/>
          <a:ln/>
        </p:spPr>
        <p:txBody>
          <a:bodyPr wrap="square" lIns="0" tIns="0" rIns="0" bIns="0" rtlCol="0" anchor="ctr"/>
          <a:lstStyle/>
          <a:p>
            <a:pPr indent="0" marL="0">
              <a:buNone/>
            </a:pPr>
            <a:r>
              <a:rPr lang="en-US" sz="2200" b="1" dirty="0">
                <a:solidFill>
                  <a:srgbClr val="D96F32"/>
                </a:solidFill>
                <a:latin typeface="Cambria" pitchFamily="34" charset="0"/>
                <a:ea typeface="Cambria" pitchFamily="34" charset="-122"/>
                <a:cs typeface="Cambria" pitchFamily="34" charset="-120"/>
              </a:rPr>
              <a:t>V</a:t>
            </a:r>
            <a:endParaRPr lang="en-US" sz="2200" dirty="0"/>
          </a:p>
        </p:txBody>
      </p:sp>
      <p:sp>
        <p:nvSpPr>
          <p:cNvPr id="6" name="Text 4"/>
          <p:cNvSpPr/>
          <p:nvPr/>
        </p:nvSpPr>
        <p:spPr>
          <a:xfrm>
            <a:off x="1280160" y="1874520"/>
            <a:ext cx="2103120" cy="292608"/>
          </a:xfrm>
          <a:prstGeom prst="rect">
            <a:avLst/>
          </a:prstGeom>
          <a:noFill/>
          <a:ln/>
        </p:spPr>
        <p:txBody>
          <a:bodyPr wrap="square" lIns="0" tIns="0" rIns="0" bIns="0" rtlCol="0" anchor="ctr"/>
          <a:lstStyle/>
          <a:p>
            <a:pPr indent="0" marL="0">
              <a:buNone/>
            </a:pPr>
            <a:r>
              <a:rPr lang="en-US" sz="1200" b="1" spc="80" kern="0" dirty="0">
                <a:solidFill>
                  <a:srgbClr val="6B7B87"/>
                </a:solidFill>
                <a:latin typeface="Calibri" pitchFamily="34" charset="0"/>
                <a:ea typeface="Calibri" pitchFamily="34" charset="-122"/>
                <a:cs typeface="Calibri" pitchFamily="34" charset="-120"/>
              </a:rPr>
              <a:t>recoverable water</a:t>
            </a:r>
            <a:endParaRPr lang="en-US" sz="1200" dirty="0"/>
          </a:p>
        </p:txBody>
      </p:sp>
      <p:sp>
        <p:nvSpPr>
          <p:cNvPr id="7" name="Text 5"/>
          <p:cNvSpPr/>
          <p:nvPr/>
        </p:nvSpPr>
        <p:spPr>
          <a:xfrm>
            <a:off x="1280160" y="2130552"/>
            <a:ext cx="6035040" cy="365760"/>
          </a:xfrm>
          <a:prstGeom prst="rect">
            <a:avLst/>
          </a:prstGeom>
          <a:noFill/>
          <a:ln/>
        </p:spPr>
        <p:txBody>
          <a:bodyPr wrap="square" lIns="0" tIns="0" rIns="0" bIns="0" rtlCol="0" anchor="ctr"/>
          <a:lstStyle/>
          <a:p>
            <a:pPr indent="0" marL="0">
              <a:buNone/>
            </a:pPr>
            <a:r>
              <a:rPr lang="en-US" sz="1500" dirty="0">
                <a:solidFill>
                  <a:srgbClr val="14202A"/>
                </a:solidFill>
                <a:latin typeface="Courier New" pitchFamily="34" charset="0"/>
                <a:ea typeface="Courier New" pitchFamily="34" charset="-122"/>
                <a:cs typeface="Courier New" pitchFamily="34" charset="-120"/>
              </a:rPr>
              <a:t>E_mm  ×  irrigated ha  ×  10  ×  reduction  ×  seasons</a:t>
            </a:r>
            <a:endParaRPr lang="en-US" sz="1500" dirty="0"/>
          </a:p>
        </p:txBody>
      </p:sp>
      <p:sp>
        <p:nvSpPr>
          <p:cNvPr id="8" name="Text 6"/>
          <p:cNvSpPr/>
          <p:nvPr/>
        </p:nvSpPr>
        <p:spPr>
          <a:xfrm>
            <a:off x="6035040" y="1874520"/>
            <a:ext cx="1463040" cy="292608"/>
          </a:xfrm>
          <a:prstGeom prst="rect">
            <a:avLst/>
          </a:prstGeom>
          <a:noFill/>
          <a:ln/>
        </p:spPr>
        <p:txBody>
          <a:bodyPr wrap="square" lIns="0" tIns="0" rIns="0" bIns="0" rtlCol="0" anchor="ctr"/>
          <a:lstStyle/>
          <a:p>
            <a:pPr algn="r" indent="0" marL="0">
              <a:buNone/>
            </a:pPr>
            <a:r>
              <a:rPr lang="en-US" sz="1000" dirty="0">
                <a:solidFill>
                  <a:srgbClr val="6B7B87"/>
                </a:solidFill>
                <a:latin typeface="Calibri" pitchFamily="34" charset="0"/>
                <a:ea typeface="Calibri" pitchFamily="34" charset="-122"/>
                <a:cs typeface="Calibri" pitchFamily="34" charset="-120"/>
              </a:rPr>
              <a:t>m³ per year</a:t>
            </a:r>
            <a:endParaRPr lang="en-US" sz="1000" dirty="0"/>
          </a:p>
        </p:txBody>
      </p:sp>
      <p:sp>
        <p:nvSpPr>
          <p:cNvPr id="9" name="Shape 7"/>
          <p:cNvSpPr/>
          <p:nvPr/>
        </p:nvSpPr>
        <p:spPr>
          <a:xfrm>
            <a:off x="640080" y="2715768"/>
            <a:ext cx="6949440" cy="786384"/>
          </a:xfrm>
          <a:prstGeom prst="roundRect">
            <a:avLst>
              <a:gd name="adj" fmla="val 9302"/>
            </a:avLst>
          </a:prstGeom>
          <a:solidFill>
            <a:srgbClr val="F4F7F9"/>
          </a:solidFill>
          <a:ln w="12700">
            <a:solidFill>
              <a:srgbClr val="E2E9ED"/>
            </a:solidFill>
            <a:prstDash val="solid"/>
          </a:ln>
        </p:spPr>
      </p:sp>
      <p:sp>
        <p:nvSpPr>
          <p:cNvPr id="10" name="Text 8"/>
          <p:cNvSpPr/>
          <p:nvPr/>
        </p:nvSpPr>
        <p:spPr>
          <a:xfrm>
            <a:off x="822960" y="2862072"/>
            <a:ext cx="457200" cy="493776"/>
          </a:xfrm>
          <a:prstGeom prst="rect">
            <a:avLst/>
          </a:prstGeom>
          <a:noFill/>
          <a:ln/>
        </p:spPr>
        <p:txBody>
          <a:bodyPr wrap="square" lIns="0" tIns="0" rIns="0" bIns="0" rtlCol="0" anchor="ctr"/>
          <a:lstStyle/>
          <a:p>
            <a:pPr indent="0" marL="0">
              <a:buNone/>
            </a:pPr>
            <a:r>
              <a:rPr lang="en-US" sz="2200" b="1" dirty="0">
                <a:solidFill>
                  <a:srgbClr val="D96F32"/>
                </a:solidFill>
                <a:latin typeface="Cambria" pitchFamily="34" charset="0"/>
                <a:ea typeface="Cambria" pitchFamily="34" charset="-122"/>
                <a:cs typeface="Cambria" pitchFamily="34" charset="-120"/>
              </a:rPr>
              <a:t>C</a:t>
            </a:r>
            <a:endParaRPr lang="en-US" sz="2200" dirty="0"/>
          </a:p>
        </p:txBody>
      </p:sp>
      <p:sp>
        <p:nvSpPr>
          <p:cNvPr id="11" name="Text 9"/>
          <p:cNvSpPr/>
          <p:nvPr/>
        </p:nvSpPr>
        <p:spPr>
          <a:xfrm>
            <a:off x="1280160" y="2807208"/>
            <a:ext cx="2103120" cy="292608"/>
          </a:xfrm>
          <a:prstGeom prst="rect">
            <a:avLst/>
          </a:prstGeom>
          <a:noFill/>
          <a:ln/>
        </p:spPr>
        <p:txBody>
          <a:bodyPr wrap="square" lIns="0" tIns="0" rIns="0" bIns="0" rtlCol="0" anchor="ctr"/>
          <a:lstStyle/>
          <a:p>
            <a:pPr indent="0" marL="0">
              <a:buNone/>
            </a:pPr>
            <a:r>
              <a:rPr lang="en-US" sz="1200" b="1" spc="80" kern="0" dirty="0">
                <a:solidFill>
                  <a:srgbClr val="6B7B87"/>
                </a:solidFill>
                <a:latin typeface="Calibri" pitchFamily="34" charset="0"/>
                <a:ea typeface="Calibri" pitchFamily="34" charset="-122"/>
                <a:cs typeface="Calibri" pitchFamily="34" charset="-120"/>
              </a:rPr>
              <a:t>annualised cost</a:t>
            </a:r>
            <a:endParaRPr lang="en-US" sz="1200" dirty="0"/>
          </a:p>
        </p:txBody>
      </p:sp>
      <p:sp>
        <p:nvSpPr>
          <p:cNvPr id="12" name="Text 10"/>
          <p:cNvSpPr/>
          <p:nvPr/>
        </p:nvSpPr>
        <p:spPr>
          <a:xfrm>
            <a:off x="1280160" y="3063240"/>
            <a:ext cx="6035040" cy="365760"/>
          </a:xfrm>
          <a:prstGeom prst="rect">
            <a:avLst/>
          </a:prstGeom>
          <a:noFill/>
          <a:ln/>
        </p:spPr>
        <p:txBody>
          <a:bodyPr wrap="square" lIns="0" tIns="0" rIns="0" bIns="0" rtlCol="0" anchor="ctr"/>
          <a:lstStyle/>
          <a:p>
            <a:pPr indent="0" marL="0">
              <a:buNone/>
            </a:pPr>
            <a:r>
              <a:rPr lang="en-US" sz="1500" dirty="0">
                <a:solidFill>
                  <a:srgbClr val="14202A"/>
                </a:solidFill>
                <a:latin typeface="Courier New" pitchFamily="34" charset="0"/>
                <a:ea typeface="Courier New" pitchFamily="34" charset="-122"/>
                <a:cs typeface="Courier New" pitchFamily="34" charset="-120"/>
              </a:rPr>
              <a:t>(USD per ha  ÷  life years)  ×  irrigated ha</a:t>
            </a:r>
            <a:endParaRPr lang="en-US" sz="1500" dirty="0"/>
          </a:p>
        </p:txBody>
      </p:sp>
      <p:sp>
        <p:nvSpPr>
          <p:cNvPr id="13" name="Text 11"/>
          <p:cNvSpPr/>
          <p:nvPr/>
        </p:nvSpPr>
        <p:spPr>
          <a:xfrm>
            <a:off x="6035040" y="2807208"/>
            <a:ext cx="1463040" cy="292608"/>
          </a:xfrm>
          <a:prstGeom prst="rect">
            <a:avLst/>
          </a:prstGeom>
          <a:noFill/>
          <a:ln/>
        </p:spPr>
        <p:txBody>
          <a:bodyPr wrap="square" lIns="0" tIns="0" rIns="0" bIns="0" rtlCol="0" anchor="ctr"/>
          <a:lstStyle/>
          <a:p>
            <a:pPr algn="r" indent="0" marL="0">
              <a:buNone/>
            </a:pPr>
            <a:r>
              <a:rPr lang="en-US" sz="1000" dirty="0">
                <a:solidFill>
                  <a:srgbClr val="6B7B87"/>
                </a:solidFill>
                <a:latin typeface="Calibri" pitchFamily="34" charset="0"/>
                <a:ea typeface="Calibri" pitchFamily="34" charset="-122"/>
                <a:cs typeface="Calibri" pitchFamily="34" charset="-120"/>
              </a:rPr>
              <a:t>USD per year</a:t>
            </a:r>
            <a:endParaRPr lang="en-US" sz="1000" dirty="0"/>
          </a:p>
        </p:txBody>
      </p:sp>
      <p:sp>
        <p:nvSpPr>
          <p:cNvPr id="14" name="Shape 12"/>
          <p:cNvSpPr/>
          <p:nvPr/>
        </p:nvSpPr>
        <p:spPr>
          <a:xfrm>
            <a:off x="640080" y="3648456"/>
            <a:ext cx="6949440" cy="786384"/>
          </a:xfrm>
          <a:prstGeom prst="roundRect">
            <a:avLst>
              <a:gd name="adj" fmla="val 9302"/>
            </a:avLst>
          </a:prstGeom>
          <a:solidFill>
            <a:srgbClr val="F4F7F9"/>
          </a:solidFill>
          <a:ln w="12700">
            <a:solidFill>
              <a:srgbClr val="E2E9ED"/>
            </a:solidFill>
            <a:prstDash val="solid"/>
          </a:ln>
        </p:spPr>
      </p:sp>
      <p:sp>
        <p:nvSpPr>
          <p:cNvPr id="15" name="Text 13"/>
          <p:cNvSpPr/>
          <p:nvPr/>
        </p:nvSpPr>
        <p:spPr>
          <a:xfrm>
            <a:off x="822960" y="3794760"/>
            <a:ext cx="457200" cy="493776"/>
          </a:xfrm>
          <a:prstGeom prst="rect">
            <a:avLst/>
          </a:prstGeom>
          <a:noFill/>
          <a:ln/>
        </p:spPr>
        <p:txBody>
          <a:bodyPr wrap="square" lIns="0" tIns="0" rIns="0" bIns="0" rtlCol="0" anchor="ctr"/>
          <a:lstStyle/>
          <a:p>
            <a:pPr indent="0" marL="0">
              <a:buNone/>
            </a:pPr>
            <a:r>
              <a:rPr lang="en-US" sz="2200" b="1" dirty="0">
                <a:solidFill>
                  <a:srgbClr val="D96F32"/>
                </a:solidFill>
                <a:latin typeface="Cambria" pitchFamily="34" charset="0"/>
                <a:ea typeface="Cambria" pitchFamily="34" charset="-122"/>
                <a:cs typeface="Cambria" pitchFamily="34" charset="-120"/>
              </a:rPr>
              <a:t>c</a:t>
            </a:r>
            <a:endParaRPr lang="en-US" sz="2200" dirty="0"/>
          </a:p>
        </p:txBody>
      </p:sp>
      <p:sp>
        <p:nvSpPr>
          <p:cNvPr id="16" name="Text 14"/>
          <p:cNvSpPr/>
          <p:nvPr/>
        </p:nvSpPr>
        <p:spPr>
          <a:xfrm>
            <a:off x="1280160" y="3739896"/>
            <a:ext cx="2103120" cy="292608"/>
          </a:xfrm>
          <a:prstGeom prst="rect">
            <a:avLst/>
          </a:prstGeom>
          <a:noFill/>
          <a:ln/>
        </p:spPr>
        <p:txBody>
          <a:bodyPr wrap="square" lIns="0" tIns="0" rIns="0" bIns="0" rtlCol="0" anchor="ctr"/>
          <a:lstStyle/>
          <a:p>
            <a:pPr indent="0" marL="0">
              <a:buNone/>
            </a:pPr>
            <a:r>
              <a:rPr lang="en-US" sz="1200" b="1" spc="80" kern="0" dirty="0">
                <a:solidFill>
                  <a:srgbClr val="6B7B87"/>
                </a:solidFill>
                <a:latin typeface="Calibri" pitchFamily="34" charset="0"/>
                <a:ea typeface="Calibri" pitchFamily="34" charset="-122"/>
                <a:cs typeface="Calibri" pitchFamily="34" charset="-120"/>
              </a:rPr>
              <a:t>cost of water</a:t>
            </a:r>
            <a:endParaRPr lang="en-US" sz="1200" dirty="0"/>
          </a:p>
        </p:txBody>
      </p:sp>
      <p:sp>
        <p:nvSpPr>
          <p:cNvPr id="17" name="Text 15"/>
          <p:cNvSpPr/>
          <p:nvPr/>
        </p:nvSpPr>
        <p:spPr>
          <a:xfrm>
            <a:off x="1280160" y="3995928"/>
            <a:ext cx="6035040" cy="365760"/>
          </a:xfrm>
          <a:prstGeom prst="rect">
            <a:avLst/>
          </a:prstGeom>
          <a:noFill/>
          <a:ln/>
        </p:spPr>
        <p:txBody>
          <a:bodyPr wrap="square" lIns="0" tIns="0" rIns="0" bIns="0" rtlCol="0" anchor="ctr"/>
          <a:lstStyle/>
          <a:p>
            <a:pPr indent="0" marL="0">
              <a:buNone/>
            </a:pPr>
            <a:r>
              <a:rPr lang="en-US" sz="1500" dirty="0">
                <a:solidFill>
                  <a:srgbClr val="14202A"/>
                </a:solidFill>
                <a:latin typeface="Courier New" pitchFamily="34" charset="0"/>
                <a:ea typeface="Courier New" pitchFamily="34" charset="-122"/>
                <a:cs typeface="Courier New" pitchFamily="34" charset="-120"/>
              </a:rPr>
              <a:t>C  ÷  V</a:t>
            </a:r>
            <a:endParaRPr lang="en-US" sz="1500" dirty="0"/>
          </a:p>
        </p:txBody>
      </p:sp>
      <p:sp>
        <p:nvSpPr>
          <p:cNvPr id="18" name="Text 16"/>
          <p:cNvSpPr/>
          <p:nvPr/>
        </p:nvSpPr>
        <p:spPr>
          <a:xfrm>
            <a:off x="6035040" y="3739896"/>
            <a:ext cx="1463040" cy="292608"/>
          </a:xfrm>
          <a:prstGeom prst="rect">
            <a:avLst/>
          </a:prstGeom>
          <a:noFill/>
          <a:ln/>
        </p:spPr>
        <p:txBody>
          <a:bodyPr wrap="square" lIns="0" tIns="0" rIns="0" bIns="0" rtlCol="0" anchor="ctr"/>
          <a:lstStyle/>
          <a:p>
            <a:pPr algn="r" indent="0" marL="0">
              <a:buNone/>
            </a:pPr>
            <a:r>
              <a:rPr lang="en-US" sz="1000" dirty="0">
                <a:solidFill>
                  <a:srgbClr val="6B7B87"/>
                </a:solidFill>
                <a:latin typeface="Calibri" pitchFamily="34" charset="0"/>
                <a:ea typeface="Calibri" pitchFamily="34" charset="-122"/>
                <a:cs typeface="Calibri" pitchFamily="34" charset="-120"/>
              </a:rPr>
              <a:t>USD per m³</a:t>
            </a:r>
            <a:endParaRPr lang="en-US" sz="1000" dirty="0"/>
          </a:p>
        </p:txBody>
      </p:sp>
      <p:sp>
        <p:nvSpPr>
          <p:cNvPr id="19" name="Shape 17"/>
          <p:cNvSpPr/>
          <p:nvPr/>
        </p:nvSpPr>
        <p:spPr>
          <a:xfrm>
            <a:off x="7863840" y="1783080"/>
            <a:ext cx="3657600" cy="2679192"/>
          </a:xfrm>
          <a:prstGeom prst="roundRect">
            <a:avLst>
              <a:gd name="adj" fmla="val 2730"/>
            </a:avLst>
          </a:prstGeom>
          <a:solidFill>
            <a:srgbClr val="F0F5F8"/>
          </a:solidFill>
          <a:ln w="12700">
            <a:solidFill>
              <a:srgbClr val="E2E9ED"/>
            </a:solidFill>
            <a:prstDash val="solid"/>
          </a:ln>
        </p:spPr>
      </p:sp>
      <p:sp>
        <p:nvSpPr>
          <p:cNvPr id="20" name="Text 18"/>
          <p:cNvSpPr/>
          <p:nvPr/>
        </p:nvSpPr>
        <p:spPr>
          <a:xfrm>
            <a:off x="8138160" y="2011680"/>
            <a:ext cx="3200400" cy="640080"/>
          </a:xfrm>
          <a:prstGeom prst="rect">
            <a:avLst/>
          </a:prstGeom>
          <a:noFill/>
          <a:ln/>
        </p:spPr>
        <p:txBody>
          <a:bodyPr wrap="square" lIns="0" tIns="0" rIns="0" bIns="0" rtlCol="0" anchor="ctr"/>
          <a:lstStyle/>
          <a:p>
            <a:pPr indent="0" marL="0">
              <a:buNone/>
            </a:pPr>
            <a:r>
              <a:rPr lang="en-US" sz="1400" b="1" dirty="0">
                <a:solidFill>
                  <a:srgbClr val="0B3C5D"/>
                </a:solidFill>
                <a:latin typeface="Calibri" pitchFamily="34" charset="0"/>
                <a:ea typeface="Calibri" pitchFamily="34" charset="-122"/>
                <a:cs typeface="Calibri" pitchFamily="34" charset="-120"/>
              </a:rPr>
              <a:t>Then sort by c and spend down the list.</a:t>
            </a:r>
            <a:endParaRPr lang="en-US" sz="1400" dirty="0"/>
          </a:p>
        </p:txBody>
      </p:sp>
      <p:sp>
        <p:nvSpPr>
          <p:cNvPr id="21" name="Text 19"/>
          <p:cNvSpPr/>
          <p:nvPr/>
        </p:nvSpPr>
        <p:spPr>
          <a:xfrm>
            <a:off x="8138160" y="2651760"/>
            <a:ext cx="3200400" cy="822960"/>
          </a:xfrm>
          <a:prstGeom prst="rect">
            <a:avLst/>
          </a:prstGeom>
          <a:noFill/>
          <a:ln/>
        </p:spPr>
        <p:txBody>
          <a:bodyPr wrap="square" lIns="0" tIns="0" rIns="0" bIns="0" rtlCol="0" anchor="ctr"/>
          <a:lstStyle/>
          <a:p>
            <a:pPr indent="0" marL="0">
              <a:buNone/>
            </a:pPr>
            <a:r>
              <a:rPr lang="en-US" sz="1400" dirty="0">
                <a:solidFill>
                  <a:srgbClr val="14202A"/>
                </a:solidFill>
                <a:latin typeface="Calibri" pitchFamily="34" charset="0"/>
                <a:ea typeface="Calibri" pitchFamily="34" charset="-122"/>
                <a:cs typeface="Calibri" pitchFamily="34" charset="-120"/>
              </a:rPr>
              <a:t>Cheapest water first. A district can be part-treated, so the greedy solution is optimal.</a:t>
            </a:r>
            <a:endParaRPr lang="en-US" sz="1400" dirty="0"/>
          </a:p>
        </p:txBody>
      </p:sp>
      <p:sp>
        <p:nvSpPr>
          <p:cNvPr id="22" name="Text 20"/>
          <p:cNvSpPr/>
          <p:nvPr/>
        </p:nvSpPr>
        <p:spPr>
          <a:xfrm>
            <a:off x="8138160" y="3474720"/>
            <a:ext cx="3200400" cy="868680"/>
          </a:xfrm>
          <a:prstGeom prst="rect">
            <a:avLst/>
          </a:prstGeom>
          <a:noFill/>
          <a:ln/>
        </p:spPr>
        <p:txBody>
          <a:bodyPr wrap="square" lIns="0" tIns="0" rIns="0" bIns="0" rtlCol="0" anchor="ctr"/>
          <a:lstStyle/>
          <a:p>
            <a:pPr indent="0" marL="0">
              <a:buNone/>
            </a:pPr>
            <a:r>
              <a:rPr lang="en-US" sz="1350" i="1" dirty="0">
                <a:solidFill>
                  <a:srgbClr val="6B7B87"/>
                </a:solidFill>
                <a:latin typeface="Calibri" pitchFamily="34" charset="0"/>
                <a:ea typeface="Calibri" pitchFamily="34" charset="-122"/>
                <a:cs typeface="Calibri" pitchFamily="34" charset="-120"/>
              </a:rPr>
              <a:t>Compared against an area-proportional split, a neutral prior, not a claim about ministry practice.</a:t>
            </a:r>
            <a:endParaRPr lang="en-US" sz="1350" dirty="0"/>
          </a:p>
        </p:txBody>
      </p:sp>
      <p:sp>
        <p:nvSpPr>
          <p:cNvPr id="23" name="Shape 21"/>
          <p:cNvSpPr/>
          <p:nvPr/>
        </p:nvSpPr>
        <p:spPr>
          <a:xfrm>
            <a:off x="640080" y="4754880"/>
            <a:ext cx="10881360" cy="1234440"/>
          </a:xfrm>
          <a:prstGeom prst="roundRect">
            <a:avLst>
              <a:gd name="adj" fmla="val 5926"/>
            </a:avLst>
          </a:prstGeom>
          <a:solidFill>
            <a:srgbClr val="FDF3EC"/>
          </a:solidFill>
          <a:ln w="12700">
            <a:solidFill>
              <a:srgbClr val="F0D9C8"/>
            </a:solidFill>
            <a:prstDash val="solid"/>
          </a:ln>
        </p:spPr>
      </p:sp>
      <p:sp>
        <p:nvSpPr>
          <p:cNvPr id="24" name="Text 22"/>
          <p:cNvSpPr/>
          <p:nvPr/>
        </p:nvSpPr>
        <p:spPr>
          <a:xfrm>
            <a:off x="914400" y="4901184"/>
            <a:ext cx="3657600" cy="320040"/>
          </a:xfrm>
          <a:prstGeom prst="rect">
            <a:avLst/>
          </a:prstGeom>
          <a:noFill/>
          <a:ln/>
        </p:spPr>
        <p:txBody>
          <a:bodyPr wrap="square" lIns="0" tIns="0" rIns="0" bIns="0" rtlCol="0" anchor="ctr"/>
          <a:lstStyle/>
          <a:p>
            <a:pPr indent="0" marL="0">
              <a:buNone/>
            </a:pPr>
            <a:r>
              <a:rPr lang="en-US" sz="1500" b="1" dirty="0">
                <a:solidFill>
                  <a:srgbClr val="D96F32"/>
                </a:solidFill>
                <a:latin typeface="Calibri" pitchFamily="34" charset="0"/>
                <a:ea typeface="Calibri" pitchFamily="34" charset="-122"/>
                <a:cs typeface="Calibri" pitchFamily="34" charset="-120"/>
              </a:rPr>
              <a:t>The cropland mask is free</a:t>
            </a:r>
            <a:endParaRPr lang="en-US" sz="1500" dirty="0"/>
          </a:p>
        </p:txBody>
      </p:sp>
      <p:sp>
        <p:nvSpPr>
          <p:cNvPr id="25" name="Text 23"/>
          <p:cNvSpPr/>
          <p:nvPr/>
        </p:nvSpPr>
        <p:spPr>
          <a:xfrm>
            <a:off x="914400" y="5212080"/>
            <a:ext cx="10332720" cy="68580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Outside the irrigated Nile there is no water and effectively no rain, so seasonal evapotranspiration collapses to near zero. A seasonal AETI threshold separates cropland from desert almost perfectly, using data we already have, with no extra product, licence or cost. Open water is removed separately, by beneficial fraction and by JRC surface water.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58368"/>
          </a:xfrm>
          <a:prstGeom prst="rect">
            <a:avLst/>
          </a:prstGeom>
          <a:noFill/>
          <a:ln/>
        </p:spPr>
        <p:txBody>
          <a:bodyPr wrap="square" lIns="0" tIns="0" rIns="0" bIns="0" rtlCol="0" anchor="ctr"/>
          <a:lstStyle/>
          <a:p>
            <a:pPr indent="0" marL="0">
              <a:buNone/>
            </a:pPr>
            <a:r>
              <a:rPr lang="en-US" sz="3400" b="1" dirty="0">
                <a:solidFill>
                  <a:srgbClr val="0B3C5D"/>
                </a:solidFill>
                <a:latin typeface="Cambria" pitchFamily="34" charset="0"/>
                <a:ea typeface="Cambria" pitchFamily="34" charset="-122"/>
                <a:cs typeface="Cambria" pitchFamily="34" charset="-120"/>
              </a:rPr>
              <a:t>Same budget, same measures, different order</a:t>
            </a:r>
            <a:endParaRPr lang="en-US" sz="3400" dirty="0"/>
          </a:p>
        </p:txBody>
      </p:sp>
      <p:sp>
        <p:nvSpPr>
          <p:cNvPr id="3" name="Text 1"/>
          <p:cNvSpPr/>
          <p:nvPr/>
        </p:nvSpPr>
        <p:spPr>
          <a:xfrm>
            <a:off x="640080" y="1060704"/>
            <a:ext cx="10908792" cy="384048"/>
          </a:xfrm>
          <a:prstGeom prst="rect">
            <a:avLst/>
          </a:prstGeom>
          <a:noFill/>
          <a:ln/>
        </p:spPr>
        <p:txBody>
          <a:bodyPr wrap="square" lIns="0" tIns="0" rIns="0" bIns="0" rtlCol="0" anchor="ctr"/>
          <a:lstStyle/>
          <a:p>
            <a:pPr indent="0" marL="0">
              <a:buNone/>
            </a:pPr>
            <a:r>
              <a:rPr lang="en-US" sz="1500" dirty="0">
                <a:solidFill>
                  <a:srgbClr val="6B7B87"/>
                </a:solidFill>
                <a:latin typeface="Calibri" pitchFamily="34" charset="0"/>
                <a:ea typeface="Calibri" pitchFamily="34" charset="-122"/>
                <a:cs typeface="Calibri" pitchFamily="34" charset="-120"/>
              </a:rPr>
              <a:t>At a $12M modernisation budget</a:t>
            </a:r>
            <a:endParaRPr lang="en-US" sz="1500" dirty="0"/>
          </a:p>
        </p:txBody>
      </p:sp>
      <p:pic>
        <p:nvPicPr>
          <p:cNvPr id="4" name="Image 0" descr="/tmp/shot_map.png">    </p:cNvPr>
          <p:cNvPicPr>
            <a:picLocks noChangeAspect="1"/>
          </p:cNvPicPr>
          <p:nvPr/>
        </p:nvPicPr>
        <p:blipFill>
          <a:blip r:embed="rId1"/>
          <a:stretch>
            <a:fillRect/>
          </a:stretch>
        </p:blipFill>
        <p:spPr>
          <a:xfrm>
            <a:off x="502920" y="1645920"/>
            <a:ext cx="5486400" cy="4544568"/>
          </a:xfrm>
          <a:prstGeom prst="rect">
            <a:avLst/>
          </a:prstGeom>
        </p:spPr>
      </p:pic>
      <p:sp>
        <p:nvSpPr>
          <p:cNvPr id="5" name="Text 2"/>
          <p:cNvSpPr/>
          <p:nvPr/>
        </p:nvSpPr>
        <p:spPr>
          <a:xfrm>
            <a:off x="6263640" y="1691640"/>
            <a:ext cx="5257800" cy="868680"/>
          </a:xfrm>
          <a:prstGeom prst="rect">
            <a:avLst/>
          </a:prstGeom>
          <a:noFill/>
          <a:ln/>
        </p:spPr>
        <p:txBody>
          <a:bodyPr wrap="square" lIns="0" tIns="0" rIns="0" bIns="0" rtlCol="0" anchor="ctr"/>
          <a:lstStyle/>
          <a:p>
            <a:pPr algn="l" indent="0" marL="0">
              <a:buNone/>
            </a:pPr>
            <a:r>
              <a:rPr lang="en-US" sz="6200" b="1" dirty="0">
                <a:solidFill>
                  <a:srgbClr val="D96F32"/>
                </a:solidFill>
                <a:latin typeface="Cambria" pitchFamily="34" charset="0"/>
                <a:ea typeface="Cambria" pitchFamily="34" charset="-122"/>
                <a:cs typeface="Cambria" pitchFamily="34" charset="-120"/>
              </a:rPr>
              <a:t>+25%</a:t>
            </a:r>
            <a:endParaRPr lang="en-US" sz="6200" dirty="0"/>
          </a:p>
        </p:txBody>
      </p:sp>
      <p:sp>
        <p:nvSpPr>
          <p:cNvPr id="6" name="Text 3"/>
          <p:cNvSpPr/>
          <p:nvPr/>
        </p:nvSpPr>
        <p:spPr>
          <a:xfrm>
            <a:off x="6263640" y="2560320"/>
            <a:ext cx="5257800" cy="566928"/>
          </a:xfrm>
          <a:prstGeom prst="rect">
            <a:avLst/>
          </a:prstGeom>
          <a:noFill/>
          <a:ln/>
        </p:spPr>
        <p:txBody>
          <a:bodyPr wrap="square" lIns="0" tIns="0" rIns="0" bIns="0" rtlCol="0" anchor="ctr"/>
          <a:lstStyle/>
          <a:p>
            <a:pPr algn="l" indent="0" marL="0">
              <a:buNone/>
            </a:pPr>
            <a:r>
              <a:rPr lang="en-US" sz="1400" dirty="0">
                <a:solidFill>
                  <a:srgbClr val="6B7B87"/>
                </a:solidFill>
                <a:latin typeface="Calibri" pitchFamily="34" charset="0"/>
                <a:ea typeface="Calibri" pitchFamily="34" charset="-122"/>
                <a:cs typeface="Calibri" pitchFamily="34" charset="-120"/>
              </a:rPr>
              <a:t>more water recovered than an area-proportional split, and the same figure on unit cost, so it is not an artefact of spending more</a:t>
            </a:r>
            <a:endParaRPr lang="en-US" sz="1400" dirty="0"/>
          </a:p>
        </p:txBody>
      </p:sp>
      <p:sp>
        <p:nvSpPr>
          <p:cNvPr id="7" name="Shape 4"/>
          <p:cNvSpPr/>
          <p:nvPr/>
        </p:nvSpPr>
        <p:spPr>
          <a:xfrm>
            <a:off x="6263640" y="3383280"/>
            <a:ext cx="5257800" cy="1417320"/>
          </a:xfrm>
          <a:prstGeom prst="roundRect">
            <a:avLst>
              <a:gd name="adj" fmla="val 5161"/>
            </a:avLst>
          </a:prstGeom>
          <a:solidFill>
            <a:srgbClr val="F4F7F9"/>
          </a:solidFill>
          <a:ln w="12700">
            <a:solidFill>
              <a:srgbClr val="E2E9ED"/>
            </a:solidFill>
            <a:prstDash val="solid"/>
          </a:ln>
        </p:spPr>
      </p:sp>
      <p:sp>
        <p:nvSpPr>
          <p:cNvPr id="8" name="Text 5"/>
          <p:cNvSpPr/>
          <p:nvPr/>
        </p:nvSpPr>
        <p:spPr>
          <a:xfrm>
            <a:off x="6492240" y="3547872"/>
            <a:ext cx="2011680" cy="274320"/>
          </a:xfrm>
          <a:prstGeom prst="rect">
            <a:avLst/>
          </a:prstGeom>
          <a:noFill/>
          <a:ln/>
        </p:spPr>
        <p:txBody>
          <a:bodyPr wrap="square" lIns="0" tIns="0" rIns="0" bIns="0" rtlCol="0" anchor="ctr"/>
          <a:lstStyle/>
          <a:p>
            <a:pPr indent="0" marL="0">
              <a:buNone/>
            </a:pPr>
            <a:r>
              <a:rPr lang="en-US" sz="1400" dirty="0">
                <a:solidFill>
                  <a:srgbClr val="6B7B87"/>
                </a:solidFill>
                <a:latin typeface="Calibri" pitchFamily="34" charset="0"/>
                <a:ea typeface="Calibri" pitchFamily="34" charset="-122"/>
                <a:cs typeface="Calibri" pitchFamily="34" charset="-120"/>
              </a:rPr>
              <a:t>Targeted</a:t>
            </a:r>
            <a:endParaRPr lang="en-US" sz="1400" dirty="0"/>
          </a:p>
        </p:txBody>
      </p:sp>
      <p:sp>
        <p:nvSpPr>
          <p:cNvPr id="9" name="Shape 6"/>
          <p:cNvSpPr/>
          <p:nvPr/>
        </p:nvSpPr>
        <p:spPr>
          <a:xfrm>
            <a:off x="8229600" y="3566160"/>
            <a:ext cx="2240280" cy="246888"/>
          </a:xfrm>
          <a:prstGeom prst="roundRect">
            <a:avLst>
              <a:gd name="adj" fmla="val 22222"/>
            </a:avLst>
          </a:prstGeom>
          <a:solidFill>
            <a:srgbClr val="2A78D6"/>
          </a:solidFill>
          <a:ln/>
        </p:spPr>
      </p:sp>
      <p:sp>
        <p:nvSpPr>
          <p:cNvPr id="10" name="Text 7"/>
          <p:cNvSpPr/>
          <p:nvPr/>
        </p:nvSpPr>
        <p:spPr>
          <a:xfrm>
            <a:off x="10561320" y="3529584"/>
            <a:ext cx="868680" cy="292608"/>
          </a:xfrm>
          <a:prstGeom prst="rect">
            <a:avLst/>
          </a:prstGeom>
          <a:noFill/>
          <a:ln/>
        </p:spPr>
        <p:txBody>
          <a:bodyPr wrap="square" lIns="0" tIns="0" rIns="0" bIns="0" rtlCol="0" anchor="ctr"/>
          <a:lstStyle/>
          <a:p>
            <a:pPr algn="r" indent="0" marL="0">
              <a:buNone/>
            </a:pPr>
            <a:r>
              <a:rPr lang="en-US" sz="1400" b="1" dirty="0">
                <a:solidFill>
                  <a:srgbClr val="14202A"/>
                </a:solidFill>
                <a:latin typeface="Calibri" pitchFamily="34" charset="0"/>
                <a:ea typeface="Calibri" pitchFamily="34" charset="-122"/>
                <a:cs typeface="Calibri" pitchFamily="34" charset="-120"/>
              </a:rPr>
              <a:t>273 Mm³</a:t>
            </a:r>
            <a:endParaRPr lang="en-US" sz="1400" dirty="0"/>
          </a:p>
        </p:txBody>
      </p:sp>
      <p:sp>
        <p:nvSpPr>
          <p:cNvPr id="11" name="Text 8"/>
          <p:cNvSpPr/>
          <p:nvPr/>
        </p:nvSpPr>
        <p:spPr>
          <a:xfrm>
            <a:off x="6492240" y="4005072"/>
            <a:ext cx="2011680" cy="274320"/>
          </a:xfrm>
          <a:prstGeom prst="rect">
            <a:avLst/>
          </a:prstGeom>
          <a:noFill/>
          <a:ln/>
        </p:spPr>
        <p:txBody>
          <a:bodyPr wrap="square" lIns="0" tIns="0" rIns="0" bIns="0" rtlCol="0" anchor="ctr"/>
          <a:lstStyle/>
          <a:p>
            <a:pPr indent="0" marL="0">
              <a:buNone/>
            </a:pPr>
            <a:r>
              <a:rPr lang="en-US" sz="1400" dirty="0">
                <a:solidFill>
                  <a:srgbClr val="6B7B87"/>
                </a:solidFill>
                <a:latin typeface="Calibri" pitchFamily="34" charset="0"/>
                <a:ea typeface="Calibri" pitchFamily="34" charset="-122"/>
                <a:cs typeface="Calibri" pitchFamily="34" charset="-120"/>
              </a:rPr>
              <a:t>Area-proportional</a:t>
            </a:r>
            <a:endParaRPr lang="en-US" sz="1400" dirty="0"/>
          </a:p>
        </p:txBody>
      </p:sp>
      <p:sp>
        <p:nvSpPr>
          <p:cNvPr id="12" name="Shape 9"/>
          <p:cNvSpPr/>
          <p:nvPr/>
        </p:nvSpPr>
        <p:spPr>
          <a:xfrm>
            <a:off x="8229600" y="4023360"/>
            <a:ext cx="1789762" cy="246888"/>
          </a:xfrm>
          <a:prstGeom prst="roundRect">
            <a:avLst>
              <a:gd name="adj" fmla="val 22222"/>
            </a:avLst>
          </a:prstGeom>
          <a:solidFill>
            <a:srgbClr val="BFCBD3"/>
          </a:solidFill>
          <a:ln/>
        </p:spPr>
      </p:sp>
      <p:sp>
        <p:nvSpPr>
          <p:cNvPr id="13" name="Text 10"/>
          <p:cNvSpPr/>
          <p:nvPr/>
        </p:nvSpPr>
        <p:spPr>
          <a:xfrm>
            <a:off x="10561320" y="3986784"/>
            <a:ext cx="868680" cy="292608"/>
          </a:xfrm>
          <a:prstGeom prst="rect">
            <a:avLst/>
          </a:prstGeom>
          <a:noFill/>
          <a:ln/>
        </p:spPr>
        <p:txBody>
          <a:bodyPr wrap="square" lIns="0" tIns="0" rIns="0" bIns="0" rtlCol="0" anchor="ctr"/>
          <a:lstStyle/>
          <a:p>
            <a:pPr algn="r" indent="0" marL="0">
              <a:buNone/>
            </a:pPr>
            <a:r>
              <a:rPr lang="en-US" sz="1400" b="1" dirty="0">
                <a:solidFill>
                  <a:srgbClr val="14202A"/>
                </a:solidFill>
                <a:latin typeface="Calibri" pitchFamily="34" charset="0"/>
                <a:ea typeface="Calibri" pitchFamily="34" charset="-122"/>
                <a:cs typeface="Calibri" pitchFamily="34" charset="-120"/>
              </a:rPr>
              <a:t>218 Mm³</a:t>
            </a:r>
            <a:endParaRPr lang="en-US" sz="1400" dirty="0"/>
          </a:p>
        </p:txBody>
      </p:sp>
      <p:sp>
        <p:nvSpPr>
          <p:cNvPr id="14" name="Text 11"/>
          <p:cNvSpPr/>
          <p:nvPr/>
        </p:nvSpPr>
        <p:spPr>
          <a:xfrm>
            <a:off x="6492240" y="4407408"/>
            <a:ext cx="4937760" cy="274320"/>
          </a:xfrm>
          <a:prstGeom prst="rect">
            <a:avLst/>
          </a:prstGeom>
          <a:noFill/>
          <a:ln/>
        </p:spPr>
        <p:txBody>
          <a:bodyPr wrap="square" lIns="0" tIns="0" rIns="0" bIns="0" rtlCol="0" anchor="ctr"/>
          <a:lstStyle/>
          <a:p>
            <a:pPr indent="0" marL="0">
              <a:buNone/>
            </a:pPr>
            <a:r>
              <a:rPr lang="en-US" sz="1300" dirty="0">
                <a:solidFill>
                  <a:srgbClr val="6B7B87"/>
                </a:solidFill>
                <a:latin typeface="Calibri" pitchFamily="34" charset="0"/>
                <a:ea typeface="Calibri" pitchFamily="34" charset="-122"/>
                <a:cs typeface="Calibri" pitchFamily="34" charset="-120"/>
              </a:rPr>
              <a:t>$0.044/m³ targeted   vs   $0.055/m³ baseline</a:t>
            </a:r>
            <a:endParaRPr lang="en-US" sz="1300" dirty="0"/>
          </a:p>
        </p:txBody>
      </p:sp>
      <p:sp>
        <p:nvSpPr>
          <p:cNvPr id="15" name="Text 12"/>
          <p:cNvSpPr/>
          <p:nvPr/>
        </p:nvSpPr>
        <p:spPr>
          <a:xfrm>
            <a:off x="6263640" y="5029200"/>
            <a:ext cx="5257800" cy="1005840"/>
          </a:xfrm>
          <a:prstGeom prst="rect">
            <a:avLst/>
          </a:prstGeom>
          <a:noFill/>
          <a:ln/>
        </p:spPr>
        <p:txBody>
          <a:bodyPr wrap="square" lIns="0" tIns="0" rIns="0" bIns="0" rtlCol="0" anchor="ctr"/>
          <a:lstStyle/>
          <a:p>
            <a:pPr indent="0" marL="0">
              <a:buNone/>
            </a:pPr>
            <a:r>
              <a:rPr lang="en-US" sz="1400" i="1" dirty="0">
                <a:solidFill>
                  <a:srgbClr val="6B7B87"/>
                </a:solidFill>
                <a:latin typeface="Calibri" pitchFamily="34" charset="0"/>
                <a:ea typeface="Calibri" pitchFamily="34" charset="-122"/>
                <a:cs typeface="Calibri" pitchFamily="34" charset="-120"/>
              </a:rPr>
              <a:t>Evaporation share runs 0.16 to 0.34 across the study area, a twofold spread, and the reason targeting works at all. The ranking is driven by that measurement; the size of the prize still moves with every cost coefficient.</a:t>
            </a:r>
            <a:endParaRPr lang="en-US" sz="1400" dirty="0"/>
          </a:p>
        </p:txBody>
      </p:sp>
      <p:sp>
        <p:nvSpPr>
          <p:cNvPr id="16" name="Text 13"/>
          <p:cNvSpPr/>
          <p:nvPr/>
        </p:nvSpPr>
        <p:spPr>
          <a:xfrm>
            <a:off x="640080" y="6291072"/>
            <a:ext cx="10908792" cy="310896"/>
          </a:xfrm>
          <a:prstGeom prst="rect">
            <a:avLst/>
          </a:prstGeom>
          <a:noFill/>
          <a:ln/>
        </p:spPr>
        <p:txBody>
          <a:bodyPr wrap="square" lIns="0" tIns="0" rIns="0" bIns="0" rtlCol="0" anchor="ctr"/>
          <a:lstStyle/>
          <a:p>
            <a:pPr indent="0" marL="0">
              <a:buNone/>
            </a:pPr>
            <a:r>
              <a:rPr lang="en-US" sz="1100" i="1" dirty="0">
                <a:solidFill>
                  <a:srgbClr val="6B7B87"/>
                </a:solidFill>
                <a:latin typeface="Calibri" pitchFamily="34" charset="0"/>
                <a:ea typeface="Calibri" pitchFamily="34" charset="-122"/>
                <a:cs typeface="Calibri" pitchFamily="34" charset="-120"/>
              </a:rPr>
              <a:t>FAO WaPOR v3 Level 2, 100 m, 18 dekads, 1 May – 31 Oct 2024. Observed irrigated area 3.56 Mha against 3.21 Mha reported cultivated, an independent check the method passes.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C5D"/>
        </a:solidFill>
      </p:bgPr>
    </p:bg>
    <p:spTree>
      <p:nvGrpSpPr>
        <p:cNvPr id="1" name=""/>
        <p:cNvGrpSpPr/>
        <p:nvPr/>
      </p:nvGrpSpPr>
      <p:grpSpPr>
        <a:xfrm>
          <a:off x="0" y="0"/>
          <a:ext cx="0" cy="0"/>
          <a:chOff x="0" y="0"/>
          <a:chExt cx="0" cy="0"/>
        </a:xfrm>
      </p:grpSpPr>
      <p:sp>
        <p:nvSpPr>
          <p:cNvPr id="2" name="Text 0"/>
          <p:cNvSpPr/>
          <p:nvPr/>
        </p:nvSpPr>
        <p:spPr>
          <a:xfrm>
            <a:off x="640080" y="384048"/>
            <a:ext cx="10908792"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the data told us we had wrong</a:t>
            </a:r>
            <a:endParaRPr lang="en-US" sz="3400" dirty="0"/>
          </a:p>
        </p:txBody>
      </p:sp>
      <p:sp>
        <p:nvSpPr>
          <p:cNvPr id="3" name="Text 1"/>
          <p:cNvSpPr/>
          <p:nvPr/>
        </p:nvSpPr>
        <p:spPr>
          <a:xfrm>
            <a:off x="640080" y="1060704"/>
            <a:ext cx="10908792" cy="384048"/>
          </a:xfrm>
          <a:prstGeom prst="rect">
            <a:avLst/>
          </a:prstGeom>
          <a:noFill/>
          <a:ln/>
        </p:spPr>
        <p:txBody>
          <a:bodyPr wrap="square" lIns="0" tIns="0" rIns="0" bIns="0" rtlCol="0" anchor="ctr"/>
          <a:lstStyle/>
          <a:p>
            <a:pPr indent="0" marL="0">
              <a:buNone/>
            </a:pPr>
            <a:r>
              <a:rPr lang="en-US" sz="1500" dirty="0">
                <a:solidFill>
                  <a:srgbClr val="B9CBD6"/>
                </a:solidFill>
                <a:latin typeface="Calibri" pitchFamily="34" charset="0"/>
                <a:ea typeface="Calibri" pitchFamily="34" charset="-122"/>
                <a:cs typeface="Calibri" pitchFamily="34" charset="-120"/>
              </a:rPr>
              <a:t>We expected the northern Delta rice belt to come out worst. Ponded paddy, evaporating all season. The measurement says otherwise.</a:t>
            </a:r>
            <a:endParaRPr lang="en-US" sz="1500" dirty="0"/>
          </a:p>
        </p:txBody>
      </p:sp>
      <p:sp>
        <p:nvSpPr>
          <p:cNvPr id="4" name="Text 2"/>
          <p:cNvSpPr/>
          <p:nvPr/>
        </p:nvSpPr>
        <p:spPr>
          <a:xfrm>
            <a:off x="822960" y="2011680"/>
            <a:ext cx="3840480" cy="310896"/>
          </a:xfrm>
          <a:prstGeom prst="rect">
            <a:avLst/>
          </a:prstGeom>
          <a:noFill/>
          <a:ln/>
        </p:spPr>
        <p:txBody>
          <a:bodyPr wrap="square" lIns="0" tIns="0" rIns="0" bIns="0" rtlCol="0" anchor="ctr"/>
          <a:lstStyle/>
          <a:p>
            <a:pPr indent="0" marL="0">
              <a:buNone/>
            </a:pPr>
            <a:r>
              <a:rPr lang="en-US" sz="1400" b="1" dirty="0">
                <a:solidFill>
                  <a:srgbClr val="D96F32"/>
                </a:solidFill>
                <a:latin typeface="Calibri" pitchFamily="34" charset="0"/>
                <a:ea typeface="Calibri" pitchFamily="34" charset="-122"/>
                <a:cs typeface="Calibri" pitchFamily="34" charset="-120"/>
              </a:rPr>
              <a:t>Delta, rice belt</a:t>
            </a:r>
            <a:endParaRPr lang="en-US" sz="1400" dirty="0"/>
          </a:p>
        </p:txBody>
      </p:sp>
      <p:sp>
        <p:nvSpPr>
          <p:cNvPr id="5" name="Text 3"/>
          <p:cNvSpPr/>
          <p:nvPr/>
        </p:nvSpPr>
        <p:spPr>
          <a:xfrm>
            <a:off x="822960" y="2313432"/>
            <a:ext cx="3840480" cy="274320"/>
          </a:xfrm>
          <a:prstGeom prst="rect">
            <a:avLst/>
          </a:prstGeom>
          <a:noFill/>
          <a:ln/>
        </p:spPr>
        <p:txBody>
          <a:bodyPr wrap="square" lIns="0" tIns="0" rIns="0" bIns="0" rtlCol="0" anchor="ctr"/>
          <a:lstStyle/>
          <a:p>
            <a:pPr indent="0" marL="0">
              <a:buNone/>
            </a:pPr>
            <a:r>
              <a:rPr lang="en-US" sz="1200" i="1" dirty="0">
                <a:solidFill>
                  <a:srgbClr val="8FB3C6"/>
                </a:solidFill>
                <a:latin typeface="Calibri" pitchFamily="34" charset="0"/>
                <a:ea typeface="Calibri" pitchFamily="34" charset="-122"/>
                <a:cs typeface="Calibri" pitchFamily="34" charset="-120"/>
              </a:rPr>
              <a:t>what we predicted would be WORST</a:t>
            </a:r>
            <a:endParaRPr lang="en-US" sz="1200" dirty="0"/>
          </a:p>
        </p:txBody>
      </p:sp>
      <p:sp>
        <p:nvSpPr>
          <p:cNvPr id="6" name="Shape 4"/>
          <p:cNvSpPr/>
          <p:nvPr/>
        </p:nvSpPr>
        <p:spPr>
          <a:xfrm>
            <a:off x="4937760" y="2066544"/>
            <a:ext cx="3360420" cy="475488"/>
          </a:xfrm>
          <a:prstGeom prst="roundRect">
            <a:avLst>
              <a:gd name="adj" fmla="val 15385"/>
            </a:avLst>
          </a:prstGeom>
          <a:solidFill>
            <a:srgbClr val="D96F32"/>
          </a:solidFill>
          <a:ln/>
        </p:spPr>
      </p:sp>
      <p:sp>
        <p:nvSpPr>
          <p:cNvPr id="7" name="Text 5"/>
          <p:cNvSpPr/>
          <p:nvPr/>
        </p:nvSpPr>
        <p:spPr>
          <a:xfrm>
            <a:off x="8389620" y="2084832"/>
            <a:ext cx="1280160" cy="43891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0.210</a:t>
            </a:r>
            <a:endParaRPr lang="en-US" sz="1600" dirty="0"/>
          </a:p>
        </p:txBody>
      </p:sp>
      <p:sp>
        <p:nvSpPr>
          <p:cNvPr id="8" name="Text 6"/>
          <p:cNvSpPr/>
          <p:nvPr/>
        </p:nvSpPr>
        <p:spPr>
          <a:xfrm>
            <a:off x="822960" y="2852928"/>
            <a:ext cx="384048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Nile Valley (Upper Egypt)</a:t>
            </a:r>
            <a:endParaRPr lang="en-US" sz="1400" dirty="0"/>
          </a:p>
        </p:txBody>
      </p:sp>
      <p:sp>
        <p:nvSpPr>
          <p:cNvPr id="9" name="Text 7"/>
          <p:cNvSpPr/>
          <p:nvPr/>
        </p:nvSpPr>
        <p:spPr>
          <a:xfrm>
            <a:off x="822960" y="3154680"/>
            <a:ext cx="3840480" cy="274320"/>
          </a:xfrm>
          <a:prstGeom prst="rect">
            <a:avLst/>
          </a:prstGeom>
          <a:noFill/>
          <a:ln/>
        </p:spPr>
        <p:txBody>
          <a:bodyPr wrap="square" lIns="0" tIns="0" rIns="0" bIns="0" rtlCol="0" anchor="ctr"/>
          <a:lstStyle/>
          <a:p>
            <a:pPr indent="0" marL="0">
              <a:buNone/>
            </a:pPr>
            <a:r>
              <a:rPr lang="en-US" sz="1200" i="1" dirty="0">
                <a:solidFill>
                  <a:srgbClr val="8FB3C6"/>
                </a:solidFill>
                <a:latin typeface="Calibri" pitchFamily="34" charset="0"/>
                <a:ea typeface="Calibri" pitchFamily="34" charset="-122"/>
                <a:cs typeface="Calibri" pitchFamily="34" charset="-120"/>
              </a:rPr>
              <a:t>684 mm through the field</a:t>
            </a:r>
            <a:endParaRPr lang="en-US" sz="1200" dirty="0"/>
          </a:p>
        </p:txBody>
      </p:sp>
      <p:sp>
        <p:nvSpPr>
          <p:cNvPr id="10" name="Shape 8"/>
          <p:cNvSpPr/>
          <p:nvPr/>
        </p:nvSpPr>
        <p:spPr>
          <a:xfrm>
            <a:off x="4937760" y="2907792"/>
            <a:ext cx="3856482" cy="475488"/>
          </a:xfrm>
          <a:prstGeom prst="roundRect">
            <a:avLst>
              <a:gd name="adj" fmla="val 15385"/>
            </a:avLst>
          </a:prstGeom>
          <a:solidFill>
            <a:srgbClr val="3B4E5C"/>
          </a:solidFill>
          <a:ln/>
        </p:spPr>
      </p:sp>
      <p:sp>
        <p:nvSpPr>
          <p:cNvPr id="11" name="Text 9"/>
          <p:cNvSpPr/>
          <p:nvPr/>
        </p:nvSpPr>
        <p:spPr>
          <a:xfrm>
            <a:off x="8885682" y="2926080"/>
            <a:ext cx="1280160" cy="43891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0.241</a:t>
            </a:r>
            <a:endParaRPr lang="en-US" sz="1600" dirty="0"/>
          </a:p>
        </p:txBody>
      </p:sp>
      <p:sp>
        <p:nvSpPr>
          <p:cNvPr id="12" name="Text 10"/>
          <p:cNvSpPr/>
          <p:nvPr/>
        </p:nvSpPr>
        <p:spPr>
          <a:xfrm>
            <a:off x="822960" y="3694176"/>
            <a:ext cx="384048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Delta, other</a:t>
            </a:r>
            <a:endParaRPr lang="en-US" sz="1400" dirty="0"/>
          </a:p>
        </p:txBody>
      </p:sp>
      <p:sp>
        <p:nvSpPr>
          <p:cNvPr id="13" name="Text 11"/>
          <p:cNvSpPr/>
          <p:nvPr/>
        </p:nvSpPr>
        <p:spPr>
          <a:xfrm>
            <a:off x="822960" y="3995928"/>
            <a:ext cx="3840480" cy="274320"/>
          </a:xfrm>
          <a:prstGeom prst="rect">
            <a:avLst/>
          </a:prstGeom>
          <a:noFill/>
          <a:ln/>
        </p:spPr>
        <p:txBody>
          <a:bodyPr wrap="square" lIns="0" tIns="0" rIns="0" bIns="0" rtlCol="0" anchor="ctr"/>
          <a:lstStyle/>
          <a:p>
            <a:pPr indent="0" marL="0">
              <a:buNone/>
            </a:pPr>
            <a:r>
              <a:rPr lang="en-US" sz="1200" i="1" dirty="0">
                <a:solidFill>
                  <a:srgbClr val="8FB3C6"/>
                </a:solidFill>
                <a:latin typeface="Calibri" pitchFamily="34" charset="0"/>
                <a:ea typeface="Calibri" pitchFamily="34" charset="-122"/>
                <a:cs typeface="Calibri" pitchFamily="34" charset="-120"/>
              </a:rPr>
              <a:t>500 mm through the field</a:t>
            </a:r>
            <a:endParaRPr lang="en-US" sz="1200" dirty="0"/>
          </a:p>
        </p:txBody>
      </p:sp>
      <p:sp>
        <p:nvSpPr>
          <p:cNvPr id="14" name="Shape 12"/>
          <p:cNvSpPr/>
          <p:nvPr/>
        </p:nvSpPr>
        <p:spPr>
          <a:xfrm>
            <a:off x="4937760" y="3749040"/>
            <a:ext cx="3888486" cy="475488"/>
          </a:xfrm>
          <a:prstGeom prst="roundRect">
            <a:avLst>
              <a:gd name="adj" fmla="val 15385"/>
            </a:avLst>
          </a:prstGeom>
          <a:solidFill>
            <a:srgbClr val="3B4E5C"/>
          </a:solidFill>
          <a:ln/>
        </p:spPr>
      </p:sp>
      <p:sp>
        <p:nvSpPr>
          <p:cNvPr id="15" name="Text 13"/>
          <p:cNvSpPr/>
          <p:nvPr/>
        </p:nvSpPr>
        <p:spPr>
          <a:xfrm>
            <a:off x="8917686" y="3767328"/>
            <a:ext cx="1280160" cy="43891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0.243</a:t>
            </a:r>
            <a:endParaRPr lang="en-US" sz="1600" dirty="0"/>
          </a:p>
        </p:txBody>
      </p:sp>
      <p:sp>
        <p:nvSpPr>
          <p:cNvPr id="16" name="Text 14"/>
          <p:cNvSpPr/>
          <p:nvPr/>
        </p:nvSpPr>
        <p:spPr>
          <a:xfrm>
            <a:off x="4937760" y="1755648"/>
            <a:ext cx="6400800" cy="237744"/>
          </a:xfrm>
          <a:prstGeom prst="rect">
            <a:avLst/>
          </a:prstGeom>
          <a:noFill/>
          <a:ln/>
        </p:spPr>
        <p:txBody>
          <a:bodyPr wrap="square" lIns="0" tIns="0" rIns="0" bIns="0" rtlCol="0" anchor="ctr"/>
          <a:lstStyle/>
          <a:p>
            <a:pPr indent="0" marL="0">
              <a:buNone/>
            </a:pPr>
            <a:r>
              <a:rPr lang="en-US" sz="1000" dirty="0">
                <a:solidFill>
                  <a:srgbClr val="6E93A8"/>
                </a:solidFill>
                <a:latin typeface="Calibri" pitchFamily="34" charset="0"/>
                <a:ea typeface="Calibri" pitchFamily="34" charset="-122"/>
                <a:cs typeface="Calibri" pitchFamily="34" charset="-120"/>
              </a:rPr>
              <a:t>share of consumed water that evaporated without growing anything  ·  E / AETI  ·  area-weighted</a:t>
            </a:r>
            <a:endParaRPr lang="en-US" sz="1000" dirty="0"/>
          </a:p>
        </p:txBody>
      </p:sp>
      <p:sp>
        <p:nvSpPr>
          <p:cNvPr id="17" name="Shape 15"/>
          <p:cNvSpPr/>
          <p:nvPr/>
        </p:nvSpPr>
        <p:spPr>
          <a:xfrm>
            <a:off x="822960" y="4617720"/>
            <a:ext cx="10515600" cy="1600200"/>
          </a:xfrm>
          <a:prstGeom prst="roundRect">
            <a:avLst>
              <a:gd name="adj" fmla="val 4571"/>
            </a:avLst>
          </a:prstGeom>
          <a:solidFill>
            <a:srgbClr val="12314A"/>
          </a:solidFill>
          <a:ln w="12700">
            <a:solidFill>
              <a:srgbClr val="E2E9ED"/>
            </a:solidFill>
            <a:prstDash val="solid"/>
          </a:ln>
        </p:spPr>
      </p:sp>
      <p:sp>
        <p:nvSpPr>
          <p:cNvPr id="18" name="Text 16"/>
          <p:cNvSpPr/>
          <p:nvPr/>
        </p:nvSpPr>
        <p:spPr>
          <a:xfrm>
            <a:off x="1097280" y="4773168"/>
            <a:ext cx="9966960" cy="13258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 closed rice canopy shades the water. </a:t>
            </a:r>
            <a:pPr indent="0" marL="0">
              <a:buNone/>
            </a:pPr>
            <a:r>
              <a:rPr lang="en-US" sz="1450" dirty="0">
                <a:solidFill>
                  <a:srgbClr val="CFE0EA"/>
                </a:solidFill>
                <a:latin typeface="Calibri" pitchFamily="34" charset="0"/>
                <a:ea typeface="Calibri" pitchFamily="34" charset="-122"/>
                <a:cs typeface="Calibri" pitchFamily="34" charset="-120"/>
              </a:rPr>
              <a:t>Ponding does not imply evaporation, Damietta reaches 0.157 and Kafr El Sheikh 0.191, the most efficient irrigated land we measured anywhere in Egypt. And the second surprise: the wasted </a:t>
            </a:r>
            <a:pPr indent="0" marL="0">
              <a:buNone/>
            </a:pPr>
            <a:r>
              <a:rPr lang="en-US" sz="1450" b="1" dirty="0">
                <a:solidFill>
                  <a:srgbClr val="FFFFFF"/>
                </a:solidFill>
                <a:latin typeface="Calibri" pitchFamily="34" charset="0"/>
                <a:ea typeface="Calibri" pitchFamily="34" charset="-122"/>
                <a:cs typeface="Calibri" pitchFamily="34" charset="-120"/>
              </a:rPr>
              <a:t>fraction</a:t>
            </a:r>
            <a:pPr indent="0" marL="0">
              <a:buNone/>
            </a:pPr>
            <a:r>
              <a:rPr lang="en-US" sz="1450" dirty="0">
                <a:solidFill>
                  <a:srgbClr val="CFE0EA"/>
                </a:solidFill>
                <a:latin typeface="Calibri" pitchFamily="34" charset="0"/>
                <a:ea typeface="Calibri" pitchFamily="34" charset="-122"/>
                <a:cs typeface="Calibri" pitchFamily="34" charset="-120"/>
              </a:rPr>
              <a:t> is similar everywhere, around 0.24. What differs is </a:t>
            </a:r>
            <a:pPr indent="0" marL="0">
              <a:buNone/>
            </a:pPr>
            <a:r>
              <a:rPr lang="en-US" sz="1450" b="1" dirty="0">
                <a:solidFill>
                  <a:srgbClr val="D96F32"/>
                </a:solidFill>
                <a:latin typeface="Calibri" pitchFamily="34" charset="0"/>
                <a:ea typeface="Calibri" pitchFamily="34" charset="-122"/>
                <a:cs typeface="Calibri" pitchFamily="34" charset="-120"/>
              </a:rPr>
              <a:t>throughput</a:t>
            </a:r>
            <a:pPr indent="0" marL="0">
              <a:buNone/>
            </a:pPr>
            <a:r>
              <a:rPr lang="en-US" sz="1450" dirty="0">
                <a:solidFill>
                  <a:srgbClr val="CFE0EA"/>
                </a:solidFill>
                <a:latin typeface="Calibri" pitchFamily="34" charset="0"/>
                <a:ea typeface="Calibri" pitchFamily="34" charset="-122"/>
                <a:cs typeface="Calibri" pitchFamily="34" charset="-120"/>
              </a:rPr>
              <a:t>, Upper Egypt is hotter, pushing 660–775 mm through a field against the Delta’s 510–640, so the same inefficiency costs more water. Targeting follows the heat, not the bad practice.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58368"/>
          </a:xfrm>
          <a:prstGeom prst="rect">
            <a:avLst/>
          </a:prstGeom>
          <a:noFill/>
          <a:ln/>
        </p:spPr>
        <p:txBody>
          <a:bodyPr wrap="square" lIns="0" tIns="0" rIns="0" bIns="0" rtlCol="0" anchor="ctr"/>
          <a:lstStyle/>
          <a:p>
            <a:pPr indent="0" marL="0">
              <a:buNone/>
            </a:pPr>
            <a:r>
              <a:rPr lang="en-US" sz="3400" b="1" dirty="0">
                <a:solidFill>
                  <a:srgbClr val="0B3C5D"/>
                </a:solidFill>
                <a:latin typeface="Cambria" pitchFamily="34" charset="0"/>
                <a:ea typeface="Cambria" pitchFamily="34" charset="-122"/>
                <a:cs typeface="Cambria" pitchFamily="34" charset="-120"/>
              </a:rPr>
              <a:t>A recommendation a committee can sign</a:t>
            </a:r>
            <a:endParaRPr lang="en-US" sz="3400" dirty="0"/>
          </a:p>
        </p:txBody>
      </p:sp>
      <p:sp>
        <p:nvSpPr>
          <p:cNvPr id="3" name="Text 1"/>
          <p:cNvSpPr/>
          <p:nvPr/>
        </p:nvSpPr>
        <p:spPr>
          <a:xfrm>
            <a:off x="640080" y="1060704"/>
            <a:ext cx="10908792" cy="384048"/>
          </a:xfrm>
          <a:prstGeom prst="rect">
            <a:avLst/>
          </a:prstGeom>
          <a:noFill/>
          <a:ln/>
        </p:spPr>
        <p:txBody>
          <a:bodyPr wrap="square" lIns="0" tIns="0" rIns="0" bIns="0" rtlCol="0" anchor="ctr"/>
          <a:lstStyle/>
          <a:p>
            <a:pPr indent="0" marL="0">
              <a:buNone/>
            </a:pPr>
            <a:r>
              <a:rPr lang="en-US" sz="1500" dirty="0">
                <a:solidFill>
                  <a:srgbClr val="6B7B87"/>
                </a:solidFill>
                <a:latin typeface="Calibri" pitchFamily="34" charset="0"/>
                <a:ea typeface="Calibri" pitchFamily="34" charset="-122"/>
                <a:cs typeface="Calibri" pitchFamily="34" charset="-120"/>
              </a:rPr>
              <a:t>Pure cheapest-first funds seven governorates out of eighteen. No ministry with an equity mandate signs that.</a:t>
            </a:r>
            <a:endParaRPr lang="en-US" sz="1500" dirty="0"/>
          </a:p>
        </p:txBody>
      </p:sp>
      <p:sp>
        <p:nvSpPr>
          <p:cNvPr id="4" name="Shape 2"/>
          <p:cNvSpPr/>
          <p:nvPr/>
        </p:nvSpPr>
        <p:spPr>
          <a:xfrm>
            <a:off x="640080" y="1783080"/>
            <a:ext cx="2606040" cy="2880360"/>
          </a:xfrm>
          <a:prstGeom prst="roundRect">
            <a:avLst>
              <a:gd name="adj" fmla="val 2807"/>
            </a:avLst>
          </a:prstGeom>
          <a:solidFill>
            <a:srgbClr val="F4F7F9"/>
          </a:solidFill>
          <a:ln w="12700">
            <a:solidFill>
              <a:srgbClr val="E2E9ED"/>
            </a:solidFill>
            <a:prstDash val="solid"/>
          </a:ln>
        </p:spPr>
      </p:sp>
      <p:sp>
        <p:nvSpPr>
          <p:cNvPr id="5" name="Text 3"/>
          <p:cNvSpPr/>
          <p:nvPr/>
        </p:nvSpPr>
        <p:spPr>
          <a:xfrm>
            <a:off x="868680" y="1965960"/>
            <a:ext cx="2148840" cy="365760"/>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No floor</a:t>
            </a:r>
            <a:endParaRPr lang="en-US" sz="1500" dirty="0"/>
          </a:p>
        </p:txBody>
      </p:sp>
      <p:sp>
        <p:nvSpPr>
          <p:cNvPr id="6" name="Text 4"/>
          <p:cNvSpPr/>
          <p:nvPr/>
        </p:nvSpPr>
        <p:spPr>
          <a:xfrm>
            <a:off x="868680" y="2395728"/>
            <a:ext cx="2148840" cy="685800"/>
          </a:xfrm>
          <a:prstGeom prst="rect">
            <a:avLst/>
          </a:prstGeom>
          <a:noFill/>
          <a:ln/>
        </p:spPr>
        <p:txBody>
          <a:bodyPr wrap="square" lIns="0" tIns="0" rIns="0" bIns="0" rtlCol="0" anchor="ctr"/>
          <a:lstStyle/>
          <a:p>
            <a:pPr indent="0" marL="0">
              <a:buNone/>
            </a:pPr>
            <a:r>
              <a:rPr lang="en-US" sz="4000" b="1" dirty="0">
                <a:solidFill>
                  <a:srgbClr val="0B3C5D"/>
                </a:solidFill>
                <a:latin typeface="Cambria" pitchFamily="34" charset="0"/>
                <a:ea typeface="Cambria" pitchFamily="34" charset="-122"/>
                <a:cs typeface="Cambria" pitchFamily="34" charset="-120"/>
              </a:rPr>
              <a:t>7</a:t>
            </a:r>
            <a:endParaRPr lang="en-US" sz="4000" dirty="0"/>
          </a:p>
        </p:txBody>
      </p:sp>
      <p:sp>
        <p:nvSpPr>
          <p:cNvPr id="7" name="Text 5"/>
          <p:cNvSpPr/>
          <p:nvPr/>
        </p:nvSpPr>
        <p:spPr>
          <a:xfrm>
            <a:off x="868680" y="3090672"/>
            <a:ext cx="2148840" cy="292608"/>
          </a:xfrm>
          <a:prstGeom prst="rect">
            <a:avLst/>
          </a:prstGeom>
          <a:noFill/>
          <a:ln/>
        </p:spPr>
        <p:txBody>
          <a:bodyPr wrap="square" lIns="0" tIns="0" rIns="0" bIns="0" rtlCol="0" anchor="ctr"/>
          <a:lstStyle/>
          <a:p>
            <a:pPr indent="0" marL="0">
              <a:buNone/>
            </a:pPr>
            <a:r>
              <a:rPr lang="en-US" sz="1300" dirty="0">
                <a:solidFill>
                  <a:srgbClr val="6B7B87"/>
                </a:solidFill>
                <a:latin typeface="Calibri" pitchFamily="34" charset="0"/>
                <a:ea typeface="Calibri" pitchFamily="34" charset="-122"/>
                <a:cs typeface="Calibri" pitchFamily="34" charset="-120"/>
              </a:rPr>
              <a:t>governorates funded</a:t>
            </a:r>
            <a:endParaRPr lang="en-US" sz="1300" dirty="0"/>
          </a:p>
        </p:txBody>
      </p:sp>
      <p:sp>
        <p:nvSpPr>
          <p:cNvPr id="8" name="Text 6"/>
          <p:cNvSpPr/>
          <p:nvPr/>
        </p:nvSpPr>
        <p:spPr>
          <a:xfrm>
            <a:off x="868680" y="3520440"/>
            <a:ext cx="2148840" cy="329184"/>
          </a:xfrm>
          <a:prstGeom prst="rect">
            <a:avLst/>
          </a:prstGeom>
          <a:noFill/>
          <a:ln/>
        </p:spPr>
        <p:txBody>
          <a:bodyPr wrap="square" lIns="0" tIns="0" rIns="0" bIns="0" rtlCol="0" anchor="ctr"/>
          <a:lstStyle/>
          <a:p>
            <a:pPr indent="0" marL="0">
              <a:buNone/>
            </a:pPr>
            <a:r>
              <a:rPr lang="en-US" sz="1600" b="1" dirty="0">
                <a:solidFill>
                  <a:srgbClr val="14202A"/>
                </a:solidFill>
                <a:latin typeface="Calibri" pitchFamily="34" charset="0"/>
                <a:ea typeface="Calibri" pitchFamily="34" charset="-122"/>
                <a:cs typeface="Calibri" pitchFamily="34" charset="-120"/>
              </a:rPr>
              <a:t>273 Mm³</a:t>
            </a:r>
            <a:endParaRPr lang="en-US" sz="1600" dirty="0"/>
          </a:p>
        </p:txBody>
      </p:sp>
      <p:sp>
        <p:nvSpPr>
          <p:cNvPr id="9" name="Text 7"/>
          <p:cNvSpPr/>
          <p:nvPr/>
        </p:nvSpPr>
        <p:spPr>
          <a:xfrm>
            <a:off x="868680" y="3858768"/>
            <a:ext cx="2148840" cy="548640"/>
          </a:xfrm>
          <a:prstGeom prst="rect">
            <a:avLst/>
          </a:prstGeom>
          <a:noFill/>
          <a:ln/>
        </p:spPr>
        <p:txBody>
          <a:bodyPr wrap="square" lIns="0" tIns="0" rIns="0" bIns="0" rtlCol="0" anchor="ctr"/>
          <a:lstStyle/>
          <a:p>
            <a:pPr indent="0" marL="0">
              <a:buNone/>
            </a:pPr>
            <a:r>
              <a:rPr lang="en-US" sz="1350" dirty="0">
                <a:solidFill>
                  <a:srgbClr val="6B7B87"/>
                </a:solidFill>
                <a:latin typeface="Calibri" pitchFamily="34" charset="0"/>
                <a:ea typeface="Calibri" pitchFamily="34" charset="-122"/>
                <a:cs typeface="Calibri" pitchFamily="34" charset="-120"/>
              </a:rPr>
              <a:t>maximum water</a:t>
            </a:r>
            <a:endParaRPr lang="en-US" sz="1350" dirty="0"/>
          </a:p>
        </p:txBody>
      </p:sp>
      <p:sp>
        <p:nvSpPr>
          <p:cNvPr id="10" name="Shape 8"/>
          <p:cNvSpPr/>
          <p:nvPr/>
        </p:nvSpPr>
        <p:spPr>
          <a:xfrm>
            <a:off x="3438144" y="1783080"/>
            <a:ext cx="2606040" cy="2880360"/>
          </a:xfrm>
          <a:prstGeom prst="roundRect">
            <a:avLst>
              <a:gd name="adj" fmla="val 2807"/>
            </a:avLst>
          </a:prstGeom>
          <a:solidFill>
            <a:srgbClr val="FDF3EC"/>
          </a:solidFill>
          <a:ln w="12700">
            <a:solidFill>
              <a:srgbClr val="E2E9ED"/>
            </a:solidFill>
            <a:prstDash val="solid"/>
          </a:ln>
        </p:spPr>
      </p:sp>
      <p:sp>
        <p:nvSpPr>
          <p:cNvPr id="11" name="Shape 9"/>
          <p:cNvSpPr/>
          <p:nvPr/>
        </p:nvSpPr>
        <p:spPr>
          <a:xfrm>
            <a:off x="3438144" y="1783080"/>
            <a:ext cx="2606040" cy="2880360"/>
          </a:xfrm>
          <a:prstGeom prst="roundRect">
            <a:avLst>
              <a:gd name="adj" fmla="val 2807"/>
            </a:avLst>
          </a:prstGeom>
          <a:solidFill>
            <a:srgbClr val="FDF3EC"/>
          </a:solidFill>
          <a:ln w="25400">
            <a:solidFill>
              <a:srgbClr val="D96F32"/>
            </a:solidFill>
            <a:prstDash val="solid"/>
          </a:ln>
        </p:spPr>
      </p:sp>
      <p:sp>
        <p:nvSpPr>
          <p:cNvPr id="12" name="Text 10"/>
          <p:cNvSpPr/>
          <p:nvPr/>
        </p:nvSpPr>
        <p:spPr>
          <a:xfrm>
            <a:off x="3666744" y="1965960"/>
            <a:ext cx="2148840" cy="365760"/>
          </a:xfrm>
          <a:prstGeom prst="rect">
            <a:avLst/>
          </a:prstGeom>
          <a:noFill/>
          <a:ln/>
        </p:spPr>
        <p:txBody>
          <a:bodyPr wrap="square" lIns="0" tIns="0" rIns="0" bIns="0" rtlCol="0" anchor="ctr"/>
          <a:lstStyle/>
          <a:p>
            <a:pPr indent="0" marL="0">
              <a:buNone/>
            </a:pPr>
            <a:r>
              <a:rPr lang="en-US" sz="1500" b="1" dirty="0">
                <a:solidFill>
                  <a:srgbClr val="D96F32"/>
                </a:solidFill>
                <a:latin typeface="Calibri" pitchFamily="34" charset="0"/>
                <a:ea typeface="Calibri" pitchFamily="34" charset="-122"/>
                <a:cs typeface="Calibri" pitchFamily="34" charset="-120"/>
              </a:rPr>
              <a:t>25% floor</a:t>
            </a:r>
            <a:endParaRPr lang="en-US" sz="1500" dirty="0"/>
          </a:p>
        </p:txBody>
      </p:sp>
      <p:sp>
        <p:nvSpPr>
          <p:cNvPr id="13" name="Text 11"/>
          <p:cNvSpPr/>
          <p:nvPr/>
        </p:nvSpPr>
        <p:spPr>
          <a:xfrm>
            <a:off x="3666744" y="2395728"/>
            <a:ext cx="2148840" cy="685800"/>
          </a:xfrm>
          <a:prstGeom prst="rect">
            <a:avLst/>
          </a:prstGeom>
          <a:noFill/>
          <a:ln/>
        </p:spPr>
        <p:txBody>
          <a:bodyPr wrap="square" lIns="0" tIns="0" rIns="0" bIns="0" rtlCol="0" anchor="ctr"/>
          <a:lstStyle/>
          <a:p>
            <a:pPr indent="0" marL="0">
              <a:buNone/>
            </a:pPr>
            <a:r>
              <a:rPr lang="en-US" sz="4000" b="1" dirty="0">
                <a:solidFill>
                  <a:srgbClr val="D96F32"/>
                </a:solidFill>
                <a:latin typeface="Cambria" pitchFamily="34" charset="0"/>
                <a:ea typeface="Cambria" pitchFamily="34" charset="-122"/>
                <a:cs typeface="Cambria" pitchFamily="34" charset="-120"/>
              </a:rPr>
              <a:t>18</a:t>
            </a:r>
            <a:endParaRPr lang="en-US" sz="4000" dirty="0"/>
          </a:p>
        </p:txBody>
      </p:sp>
      <p:sp>
        <p:nvSpPr>
          <p:cNvPr id="14" name="Text 12"/>
          <p:cNvSpPr/>
          <p:nvPr/>
        </p:nvSpPr>
        <p:spPr>
          <a:xfrm>
            <a:off x="3666744" y="3090672"/>
            <a:ext cx="2148840" cy="292608"/>
          </a:xfrm>
          <a:prstGeom prst="rect">
            <a:avLst/>
          </a:prstGeom>
          <a:noFill/>
          <a:ln/>
        </p:spPr>
        <p:txBody>
          <a:bodyPr wrap="square" lIns="0" tIns="0" rIns="0" bIns="0" rtlCol="0" anchor="ctr"/>
          <a:lstStyle/>
          <a:p>
            <a:pPr indent="0" marL="0">
              <a:buNone/>
            </a:pPr>
            <a:r>
              <a:rPr lang="en-US" sz="1300" dirty="0">
                <a:solidFill>
                  <a:srgbClr val="6B7B87"/>
                </a:solidFill>
                <a:latin typeface="Calibri" pitchFamily="34" charset="0"/>
                <a:ea typeface="Calibri" pitchFamily="34" charset="-122"/>
                <a:cs typeface="Calibri" pitchFamily="34" charset="-120"/>
              </a:rPr>
              <a:t>governorates funded</a:t>
            </a:r>
            <a:endParaRPr lang="en-US" sz="1300" dirty="0"/>
          </a:p>
        </p:txBody>
      </p:sp>
      <p:sp>
        <p:nvSpPr>
          <p:cNvPr id="15" name="Text 13"/>
          <p:cNvSpPr/>
          <p:nvPr/>
        </p:nvSpPr>
        <p:spPr>
          <a:xfrm>
            <a:off x="3666744" y="3520440"/>
            <a:ext cx="2148840" cy="329184"/>
          </a:xfrm>
          <a:prstGeom prst="rect">
            <a:avLst/>
          </a:prstGeom>
          <a:noFill/>
          <a:ln/>
        </p:spPr>
        <p:txBody>
          <a:bodyPr wrap="square" lIns="0" tIns="0" rIns="0" bIns="0" rtlCol="0" anchor="ctr"/>
          <a:lstStyle/>
          <a:p>
            <a:pPr indent="0" marL="0">
              <a:buNone/>
            </a:pPr>
            <a:r>
              <a:rPr lang="en-US" sz="1600" b="1" dirty="0">
                <a:solidFill>
                  <a:srgbClr val="14202A"/>
                </a:solidFill>
                <a:latin typeface="Calibri" pitchFamily="34" charset="0"/>
                <a:ea typeface="Calibri" pitchFamily="34" charset="-122"/>
                <a:cs typeface="Calibri" pitchFamily="34" charset="-120"/>
              </a:rPr>
              <a:t>264 Mm³</a:t>
            </a:r>
            <a:endParaRPr lang="en-US" sz="1600" dirty="0"/>
          </a:p>
        </p:txBody>
      </p:sp>
      <p:sp>
        <p:nvSpPr>
          <p:cNvPr id="16" name="Text 14"/>
          <p:cNvSpPr/>
          <p:nvPr/>
        </p:nvSpPr>
        <p:spPr>
          <a:xfrm>
            <a:off x="3666744" y="3858768"/>
            <a:ext cx="2148840" cy="548640"/>
          </a:xfrm>
          <a:prstGeom prst="rect">
            <a:avLst/>
          </a:prstGeom>
          <a:noFill/>
          <a:ln/>
        </p:spPr>
        <p:txBody>
          <a:bodyPr wrap="square" lIns="0" tIns="0" rIns="0" bIns="0" rtlCol="0" anchor="ctr"/>
          <a:lstStyle/>
          <a:p>
            <a:pPr indent="0" marL="0">
              <a:buNone/>
            </a:pPr>
            <a:r>
              <a:rPr lang="en-US" sz="1350" dirty="0">
                <a:solidFill>
                  <a:srgbClr val="6B7B87"/>
                </a:solidFill>
                <a:latin typeface="Calibri" pitchFamily="34" charset="0"/>
                <a:ea typeface="Calibri" pitchFamily="34" charset="-122"/>
                <a:cs typeface="Calibri" pitchFamily="34" charset="-120"/>
              </a:rPr>
              <a:t>−3.2% vs pure targeting</a:t>
            </a:r>
            <a:endParaRPr lang="en-US" sz="1350" dirty="0"/>
          </a:p>
        </p:txBody>
      </p:sp>
      <p:sp>
        <p:nvSpPr>
          <p:cNvPr id="17" name="Shape 15"/>
          <p:cNvSpPr/>
          <p:nvPr/>
        </p:nvSpPr>
        <p:spPr>
          <a:xfrm>
            <a:off x="6236208" y="1783080"/>
            <a:ext cx="2606040" cy="2880360"/>
          </a:xfrm>
          <a:prstGeom prst="roundRect">
            <a:avLst>
              <a:gd name="adj" fmla="val 2807"/>
            </a:avLst>
          </a:prstGeom>
          <a:solidFill>
            <a:srgbClr val="F4F7F9"/>
          </a:solidFill>
          <a:ln w="12700">
            <a:solidFill>
              <a:srgbClr val="E2E9ED"/>
            </a:solidFill>
            <a:prstDash val="solid"/>
          </a:ln>
        </p:spPr>
      </p:sp>
      <p:sp>
        <p:nvSpPr>
          <p:cNvPr id="18" name="Text 16"/>
          <p:cNvSpPr/>
          <p:nvPr/>
        </p:nvSpPr>
        <p:spPr>
          <a:xfrm>
            <a:off x="6464808" y="1965960"/>
            <a:ext cx="2148840" cy="365760"/>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50% floor</a:t>
            </a:r>
            <a:endParaRPr lang="en-US" sz="1500" dirty="0"/>
          </a:p>
        </p:txBody>
      </p:sp>
      <p:sp>
        <p:nvSpPr>
          <p:cNvPr id="19" name="Text 17"/>
          <p:cNvSpPr/>
          <p:nvPr/>
        </p:nvSpPr>
        <p:spPr>
          <a:xfrm>
            <a:off x="6464808" y="2395728"/>
            <a:ext cx="2148840" cy="685800"/>
          </a:xfrm>
          <a:prstGeom prst="rect">
            <a:avLst/>
          </a:prstGeom>
          <a:noFill/>
          <a:ln/>
        </p:spPr>
        <p:txBody>
          <a:bodyPr wrap="square" lIns="0" tIns="0" rIns="0" bIns="0" rtlCol="0" anchor="ctr"/>
          <a:lstStyle/>
          <a:p>
            <a:pPr indent="0" marL="0">
              <a:buNone/>
            </a:pPr>
            <a:r>
              <a:rPr lang="en-US" sz="4000" b="1" dirty="0">
                <a:solidFill>
                  <a:srgbClr val="0B3C5D"/>
                </a:solidFill>
                <a:latin typeface="Cambria" pitchFamily="34" charset="0"/>
                <a:ea typeface="Cambria" pitchFamily="34" charset="-122"/>
                <a:cs typeface="Cambria" pitchFamily="34" charset="-120"/>
              </a:rPr>
              <a:t>18</a:t>
            </a:r>
            <a:endParaRPr lang="en-US" sz="4000" dirty="0"/>
          </a:p>
        </p:txBody>
      </p:sp>
      <p:sp>
        <p:nvSpPr>
          <p:cNvPr id="20" name="Text 18"/>
          <p:cNvSpPr/>
          <p:nvPr/>
        </p:nvSpPr>
        <p:spPr>
          <a:xfrm>
            <a:off x="6464808" y="3090672"/>
            <a:ext cx="2148840" cy="292608"/>
          </a:xfrm>
          <a:prstGeom prst="rect">
            <a:avLst/>
          </a:prstGeom>
          <a:noFill/>
          <a:ln/>
        </p:spPr>
        <p:txBody>
          <a:bodyPr wrap="square" lIns="0" tIns="0" rIns="0" bIns="0" rtlCol="0" anchor="ctr"/>
          <a:lstStyle/>
          <a:p>
            <a:pPr indent="0" marL="0">
              <a:buNone/>
            </a:pPr>
            <a:r>
              <a:rPr lang="en-US" sz="1300" dirty="0">
                <a:solidFill>
                  <a:srgbClr val="6B7B87"/>
                </a:solidFill>
                <a:latin typeface="Calibri" pitchFamily="34" charset="0"/>
                <a:ea typeface="Calibri" pitchFamily="34" charset="-122"/>
                <a:cs typeface="Calibri" pitchFamily="34" charset="-120"/>
              </a:rPr>
              <a:t>governorates funded</a:t>
            </a:r>
            <a:endParaRPr lang="en-US" sz="1300" dirty="0"/>
          </a:p>
        </p:txBody>
      </p:sp>
      <p:sp>
        <p:nvSpPr>
          <p:cNvPr id="21" name="Text 19"/>
          <p:cNvSpPr/>
          <p:nvPr/>
        </p:nvSpPr>
        <p:spPr>
          <a:xfrm>
            <a:off x="6464808" y="3520440"/>
            <a:ext cx="2148840" cy="329184"/>
          </a:xfrm>
          <a:prstGeom prst="rect">
            <a:avLst/>
          </a:prstGeom>
          <a:noFill/>
          <a:ln/>
        </p:spPr>
        <p:txBody>
          <a:bodyPr wrap="square" lIns="0" tIns="0" rIns="0" bIns="0" rtlCol="0" anchor="ctr"/>
          <a:lstStyle/>
          <a:p>
            <a:pPr indent="0" marL="0">
              <a:buNone/>
            </a:pPr>
            <a:r>
              <a:rPr lang="en-US" sz="1600" b="1" dirty="0">
                <a:solidFill>
                  <a:srgbClr val="14202A"/>
                </a:solidFill>
                <a:latin typeface="Calibri" pitchFamily="34" charset="0"/>
                <a:ea typeface="Calibri" pitchFamily="34" charset="-122"/>
                <a:cs typeface="Calibri" pitchFamily="34" charset="-120"/>
              </a:rPr>
              <a:t>253 Mm³</a:t>
            </a:r>
            <a:endParaRPr lang="en-US" sz="1600" dirty="0"/>
          </a:p>
        </p:txBody>
      </p:sp>
      <p:sp>
        <p:nvSpPr>
          <p:cNvPr id="22" name="Text 20"/>
          <p:cNvSpPr/>
          <p:nvPr/>
        </p:nvSpPr>
        <p:spPr>
          <a:xfrm>
            <a:off x="6464808" y="3858768"/>
            <a:ext cx="2148840" cy="548640"/>
          </a:xfrm>
          <a:prstGeom prst="rect">
            <a:avLst/>
          </a:prstGeom>
          <a:noFill/>
          <a:ln/>
        </p:spPr>
        <p:txBody>
          <a:bodyPr wrap="square" lIns="0" tIns="0" rIns="0" bIns="0" rtlCol="0" anchor="ctr"/>
          <a:lstStyle/>
          <a:p>
            <a:pPr indent="0" marL="0">
              <a:buNone/>
            </a:pPr>
            <a:r>
              <a:rPr lang="en-US" sz="1350" dirty="0">
                <a:solidFill>
                  <a:srgbClr val="6B7B87"/>
                </a:solidFill>
                <a:latin typeface="Calibri" pitchFamily="34" charset="0"/>
                <a:ea typeface="Calibri" pitchFamily="34" charset="-122"/>
                <a:cs typeface="Calibri" pitchFamily="34" charset="-120"/>
              </a:rPr>
              <a:t>−7.2% vs pure targeting</a:t>
            </a:r>
            <a:endParaRPr lang="en-US" sz="1350" dirty="0"/>
          </a:p>
        </p:txBody>
      </p:sp>
      <p:sp>
        <p:nvSpPr>
          <p:cNvPr id="23" name="Shape 21"/>
          <p:cNvSpPr/>
          <p:nvPr/>
        </p:nvSpPr>
        <p:spPr>
          <a:xfrm>
            <a:off x="9034272" y="1783080"/>
            <a:ext cx="2606040" cy="2880360"/>
          </a:xfrm>
          <a:prstGeom prst="roundRect">
            <a:avLst>
              <a:gd name="adj" fmla="val 2807"/>
            </a:avLst>
          </a:prstGeom>
          <a:solidFill>
            <a:srgbClr val="F4F7F9"/>
          </a:solidFill>
          <a:ln w="12700">
            <a:solidFill>
              <a:srgbClr val="E2E9ED"/>
            </a:solidFill>
            <a:prstDash val="solid"/>
          </a:ln>
        </p:spPr>
      </p:sp>
      <p:sp>
        <p:nvSpPr>
          <p:cNvPr id="24" name="Text 22"/>
          <p:cNvSpPr/>
          <p:nvPr/>
        </p:nvSpPr>
        <p:spPr>
          <a:xfrm>
            <a:off x="9262872" y="1965960"/>
            <a:ext cx="2148840" cy="365760"/>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100% floor</a:t>
            </a:r>
            <a:endParaRPr lang="en-US" sz="1500" dirty="0"/>
          </a:p>
        </p:txBody>
      </p:sp>
      <p:sp>
        <p:nvSpPr>
          <p:cNvPr id="25" name="Text 23"/>
          <p:cNvSpPr/>
          <p:nvPr/>
        </p:nvSpPr>
        <p:spPr>
          <a:xfrm>
            <a:off x="9262872" y="2395728"/>
            <a:ext cx="2148840" cy="685800"/>
          </a:xfrm>
          <a:prstGeom prst="rect">
            <a:avLst/>
          </a:prstGeom>
          <a:noFill/>
          <a:ln/>
        </p:spPr>
        <p:txBody>
          <a:bodyPr wrap="square" lIns="0" tIns="0" rIns="0" bIns="0" rtlCol="0" anchor="ctr"/>
          <a:lstStyle/>
          <a:p>
            <a:pPr indent="0" marL="0">
              <a:buNone/>
            </a:pPr>
            <a:r>
              <a:rPr lang="en-US" sz="4000" b="1" dirty="0">
                <a:solidFill>
                  <a:srgbClr val="0B3C5D"/>
                </a:solidFill>
                <a:latin typeface="Cambria" pitchFamily="34" charset="0"/>
                <a:ea typeface="Cambria" pitchFamily="34" charset="-122"/>
                <a:cs typeface="Cambria" pitchFamily="34" charset="-120"/>
              </a:rPr>
              <a:t>18</a:t>
            </a:r>
            <a:endParaRPr lang="en-US" sz="4000" dirty="0"/>
          </a:p>
        </p:txBody>
      </p:sp>
      <p:sp>
        <p:nvSpPr>
          <p:cNvPr id="26" name="Text 24"/>
          <p:cNvSpPr/>
          <p:nvPr/>
        </p:nvSpPr>
        <p:spPr>
          <a:xfrm>
            <a:off x="9262872" y="3090672"/>
            <a:ext cx="2148840" cy="292608"/>
          </a:xfrm>
          <a:prstGeom prst="rect">
            <a:avLst/>
          </a:prstGeom>
          <a:noFill/>
          <a:ln/>
        </p:spPr>
        <p:txBody>
          <a:bodyPr wrap="square" lIns="0" tIns="0" rIns="0" bIns="0" rtlCol="0" anchor="ctr"/>
          <a:lstStyle/>
          <a:p>
            <a:pPr indent="0" marL="0">
              <a:buNone/>
            </a:pPr>
            <a:r>
              <a:rPr lang="en-US" sz="1300" dirty="0">
                <a:solidFill>
                  <a:srgbClr val="6B7B87"/>
                </a:solidFill>
                <a:latin typeface="Calibri" pitchFamily="34" charset="0"/>
                <a:ea typeface="Calibri" pitchFamily="34" charset="-122"/>
                <a:cs typeface="Calibri" pitchFamily="34" charset="-120"/>
              </a:rPr>
              <a:t>governorates funded</a:t>
            </a:r>
            <a:endParaRPr lang="en-US" sz="1300" dirty="0"/>
          </a:p>
        </p:txBody>
      </p:sp>
      <p:sp>
        <p:nvSpPr>
          <p:cNvPr id="27" name="Text 25"/>
          <p:cNvSpPr/>
          <p:nvPr/>
        </p:nvSpPr>
        <p:spPr>
          <a:xfrm>
            <a:off x="9262872" y="3520440"/>
            <a:ext cx="2148840" cy="329184"/>
          </a:xfrm>
          <a:prstGeom prst="rect">
            <a:avLst/>
          </a:prstGeom>
          <a:noFill/>
          <a:ln/>
        </p:spPr>
        <p:txBody>
          <a:bodyPr wrap="square" lIns="0" tIns="0" rIns="0" bIns="0" rtlCol="0" anchor="ctr"/>
          <a:lstStyle/>
          <a:p>
            <a:pPr indent="0" marL="0">
              <a:buNone/>
            </a:pPr>
            <a:r>
              <a:rPr lang="en-US" sz="1600" b="1" dirty="0">
                <a:solidFill>
                  <a:srgbClr val="14202A"/>
                </a:solidFill>
                <a:latin typeface="Calibri" pitchFamily="34" charset="0"/>
                <a:ea typeface="Calibri" pitchFamily="34" charset="-122"/>
                <a:cs typeface="Calibri" pitchFamily="34" charset="-120"/>
              </a:rPr>
              <a:t>218 Mm³</a:t>
            </a:r>
            <a:endParaRPr lang="en-US" sz="1600" dirty="0"/>
          </a:p>
        </p:txBody>
      </p:sp>
      <p:sp>
        <p:nvSpPr>
          <p:cNvPr id="28" name="Text 26"/>
          <p:cNvSpPr/>
          <p:nvPr/>
        </p:nvSpPr>
        <p:spPr>
          <a:xfrm>
            <a:off x="9262872" y="3858768"/>
            <a:ext cx="2148840" cy="548640"/>
          </a:xfrm>
          <a:prstGeom prst="rect">
            <a:avLst/>
          </a:prstGeom>
          <a:noFill/>
          <a:ln/>
        </p:spPr>
        <p:txBody>
          <a:bodyPr wrap="square" lIns="0" tIns="0" rIns="0" bIns="0" rtlCol="0" anchor="ctr"/>
          <a:lstStyle/>
          <a:p>
            <a:pPr indent="0" marL="0">
              <a:buNone/>
            </a:pPr>
            <a:r>
              <a:rPr lang="en-US" sz="1350" dirty="0">
                <a:solidFill>
                  <a:srgbClr val="6B7B87"/>
                </a:solidFill>
                <a:latin typeface="Calibri" pitchFamily="34" charset="0"/>
                <a:ea typeface="Calibri" pitchFamily="34" charset="-122"/>
                <a:cs typeface="Calibri" pitchFamily="34" charset="-120"/>
              </a:rPr>
              <a:t>−20.1% vs pure targeting</a:t>
            </a:r>
            <a:endParaRPr lang="en-US" sz="1350" dirty="0"/>
          </a:p>
        </p:txBody>
      </p:sp>
      <p:sp>
        <p:nvSpPr>
          <p:cNvPr id="29" name="Shape 27"/>
          <p:cNvSpPr/>
          <p:nvPr/>
        </p:nvSpPr>
        <p:spPr>
          <a:xfrm>
            <a:off x="640080" y="4983480"/>
            <a:ext cx="10881360" cy="1051560"/>
          </a:xfrm>
          <a:prstGeom prst="roundRect">
            <a:avLst>
              <a:gd name="adj" fmla="val 6957"/>
            </a:avLst>
          </a:prstGeom>
          <a:solidFill>
            <a:srgbClr val="F0F5F8"/>
          </a:solidFill>
          <a:ln w="12700">
            <a:solidFill>
              <a:srgbClr val="D6E3EA"/>
            </a:solidFill>
            <a:prstDash val="solid"/>
          </a:ln>
        </p:spPr>
      </p:sp>
      <p:sp>
        <p:nvSpPr>
          <p:cNvPr id="30" name="Text 28"/>
          <p:cNvSpPr/>
          <p:nvPr/>
        </p:nvSpPr>
        <p:spPr>
          <a:xfrm>
            <a:off x="914400" y="5138928"/>
            <a:ext cx="10332720" cy="777240"/>
          </a:xfrm>
          <a:prstGeom prst="rect">
            <a:avLst/>
          </a:prstGeom>
          <a:noFill/>
          <a:ln/>
        </p:spPr>
        <p:txBody>
          <a:bodyPr wrap="square" lIns="0" tIns="0" rIns="0" bIns="0" rtlCol="0" anchor="ctr"/>
          <a:lstStyle/>
          <a:p>
            <a:pPr indent="0" marL="0">
              <a:buNone/>
            </a:pPr>
            <a:r>
              <a:rPr lang="en-US" sz="1450" b="1" dirty="0">
                <a:solidFill>
                  <a:srgbClr val="0B3C5D"/>
                </a:solidFill>
                <a:latin typeface="Calibri" pitchFamily="34" charset="0"/>
                <a:ea typeface="Calibri" pitchFamily="34" charset="-122"/>
                <a:cs typeface="Calibri" pitchFamily="34" charset="-120"/>
              </a:rPr>
              <a:t>Reserve a quarter of the budget for equity and you fund every governorate for 3.2% of the water. </a:t>
            </a:r>
            <a:pPr indent="0" marL="0">
              <a:buNone/>
            </a:pPr>
            <a:r>
              <a:rPr lang="en-US" sz="1450" dirty="0">
                <a:solidFill>
                  <a:srgbClr val="14202A"/>
                </a:solidFill>
                <a:latin typeface="Calibri" pitchFamily="34" charset="0"/>
                <a:ea typeface="Calibri" pitchFamily="34" charset="-122"/>
                <a:cs typeface="Calibri" pitchFamily="34" charset="-120"/>
              </a:rPr>
              <a:t>Stakeholder engagement happens outside the dataset interface, so we priced the political constraint instead of optimising around it. The floor is a slider: the committee argues with the model in the room and leaves owning the result.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58368"/>
          </a:xfrm>
          <a:prstGeom prst="rect">
            <a:avLst/>
          </a:prstGeom>
          <a:noFill/>
          <a:ln/>
        </p:spPr>
        <p:txBody>
          <a:bodyPr wrap="square" lIns="0" tIns="0" rIns="0" bIns="0" rtlCol="0" anchor="ctr"/>
          <a:lstStyle/>
          <a:p>
            <a:pPr indent="0" marL="0">
              <a:buNone/>
            </a:pPr>
            <a:r>
              <a:rPr lang="en-US" sz="3400" b="1" dirty="0">
                <a:solidFill>
                  <a:srgbClr val="0B3C5D"/>
                </a:solidFill>
                <a:latin typeface="Cambria" pitchFamily="34" charset="0"/>
                <a:ea typeface="Cambria" pitchFamily="34" charset="-122"/>
                <a:cs typeface="Cambria" pitchFamily="34" charset="-120"/>
              </a:rPr>
              <a:t>And next season, we check</a:t>
            </a:r>
            <a:endParaRPr lang="en-US" sz="3400" dirty="0"/>
          </a:p>
        </p:txBody>
      </p:sp>
      <p:sp>
        <p:nvSpPr>
          <p:cNvPr id="3" name="Text 1"/>
          <p:cNvSpPr/>
          <p:nvPr/>
        </p:nvSpPr>
        <p:spPr>
          <a:xfrm>
            <a:off x="640080" y="1060704"/>
            <a:ext cx="10908792" cy="384048"/>
          </a:xfrm>
          <a:prstGeom prst="rect">
            <a:avLst/>
          </a:prstGeom>
          <a:noFill/>
          <a:ln/>
        </p:spPr>
        <p:txBody>
          <a:bodyPr wrap="square" lIns="0" tIns="0" rIns="0" bIns="0" rtlCol="0" anchor="ctr"/>
          <a:lstStyle/>
          <a:p>
            <a:pPr indent="0" marL="0">
              <a:buNone/>
            </a:pPr>
            <a:r>
              <a:rPr lang="en-US" sz="1500" dirty="0">
                <a:solidFill>
                  <a:srgbClr val="6B7B87"/>
                </a:solidFill>
                <a:latin typeface="Calibri" pitchFamily="34" charset="0"/>
                <a:ea typeface="Calibri" pitchFamily="34" charset="-122"/>
                <a:cs typeface="Calibri" pitchFamily="34" charset="-120"/>
              </a:rPr>
              <a:t>Most tools stop at the recommendation. This one can be checked against what actually happened.</a:t>
            </a:r>
            <a:endParaRPr lang="en-US" sz="1500" dirty="0"/>
          </a:p>
        </p:txBody>
      </p:sp>
      <p:sp>
        <p:nvSpPr>
          <p:cNvPr id="4" name="Shape 2"/>
          <p:cNvSpPr/>
          <p:nvPr/>
        </p:nvSpPr>
        <p:spPr>
          <a:xfrm>
            <a:off x="640080" y="1828800"/>
            <a:ext cx="2606040" cy="2286000"/>
          </a:xfrm>
          <a:prstGeom prst="roundRect">
            <a:avLst>
              <a:gd name="adj" fmla="val 3200"/>
            </a:avLst>
          </a:prstGeom>
          <a:solidFill>
            <a:srgbClr val="F4F7F9"/>
          </a:solidFill>
          <a:ln w="12700">
            <a:solidFill>
              <a:srgbClr val="E2E9ED"/>
            </a:solidFill>
            <a:prstDash val="solid"/>
          </a:ln>
        </p:spPr>
      </p:sp>
      <p:sp>
        <p:nvSpPr>
          <p:cNvPr id="5" name="Shape 3"/>
          <p:cNvSpPr/>
          <p:nvPr/>
        </p:nvSpPr>
        <p:spPr>
          <a:xfrm>
            <a:off x="868680" y="2029968"/>
            <a:ext cx="475488" cy="475488"/>
          </a:xfrm>
          <a:prstGeom prst="ellipse">
            <a:avLst/>
          </a:prstGeom>
          <a:solidFill>
            <a:srgbClr val="1C7293"/>
          </a:solidFill>
          <a:ln/>
        </p:spPr>
      </p:sp>
      <p:sp>
        <p:nvSpPr>
          <p:cNvPr id="6" name="Text 4"/>
          <p:cNvSpPr/>
          <p:nvPr/>
        </p:nvSpPr>
        <p:spPr>
          <a:xfrm>
            <a:off x="868680" y="202996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68680" y="2615184"/>
            <a:ext cx="2148840" cy="329184"/>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Allocate</a:t>
            </a:r>
            <a:endParaRPr lang="en-US" sz="1500" dirty="0"/>
          </a:p>
        </p:txBody>
      </p:sp>
      <p:sp>
        <p:nvSpPr>
          <p:cNvPr id="8" name="Text 6"/>
          <p:cNvSpPr/>
          <p:nvPr/>
        </p:nvSpPr>
        <p:spPr>
          <a:xfrm>
            <a:off x="868680" y="2980944"/>
            <a:ext cx="2148840" cy="100584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WaPOR evaporation ranks the districts and sets the spending list</a:t>
            </a:r>
            <a:endParaRPr lang="en-US" sz="1350" dirty="0"/>
          </a:p>
        </p:txBody>
      </p:sp>
      <p:sp>
        <p:nvSpPr>
          <p:cNvPr id="9" name="Text 7"/>
          <p:cNvSpPr/>
          <p:nvPr/>
        </p:nvSpPr>
        <p:spPr>
          <a:xfrm>
            <a:off x="3264408" y="2743200"/>
            <a:ext cx="182880" cy="365760"/>
          </a:xfrm>
          <a:prstGeom prst="rect">
            <a:avLst/>
          </a:prstGeom>
          <a:noFill/>
          <a:ln/>
        </p:spPr>
        <p:txBody>
          <a:bodyPr wrap="square" lIns="0" tIns="0" rIns="0" bIns="0" rtlCol="0" anchor="ctr"/>
          <a:lstStyle/>
          <a:p>
            <a:pPr algn="ctr" indent="0" marL="0">
              <a:buNone/>
            </a:pPr>
            <a:r>
              <a:rPr lang="en-US" sz="1600" dirty="0">
                <a:solidFill>
                  <a:srgbClr val="AFC0CA"/>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438144" y="1828800"/>
            <a:ext cx="2606040" cy="2286000"/>
          </a:xfrm>
          <a:prstGeom prst="roundRect">
            <a:avLst>
              <a:gd name="adj" fmla="val 3200"/>
            </a:avLst>
          </a:prstGeom>
          <a:solidFill>
            <a:srgbClr val="F4F7F9"/>
          </a:solidFill>
          <a:ln w="12700">
            <a:solidFill>
              <a:srgbClr val="E2E9ED"/>
            </a:solidFill>
            <a:prstDash val="solid"/>
          </a:ln>
        </p:spPr>
      </p:sp>
      <p:sp>
        <p:nvSpPr>
          <p:cNvPr id="11" name="Shape 9"/>
          <p:cNvSpPr/>
          <p:nvPr/>
        </p:nvSpPr>
        <p:spPr>
          <a:xfrm>
            <a:off x="3666744" y="2029968"/>
            <a:ext cx="475488" cy="475488"/>
          </a:xfrm>
          <a:prstGeom prst="ellipse">
            <a:avLst/>
          </a:prstGeom>
          <a:solidFill>
            <a:srgbClr val="1C7293"/>
          </a:solidFill>
          <a:ln/>
        </p:spPr>
      </p:sp>
      <p:sp>
        <p:nvSpPr>
          <p:cNvPr id="12" name="Text 10"/>
          <p:cNvSpPr/>
          <p:nvPr/>
        </p:nvSpPr>
        <p:spPr>
          <a:xfrm>
            <a:off x="3666744" y="202996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3666744" y="2615184"/>
            <a:ext cx="2148840" cy="329184"/>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Spend</a:t>
            </a:r>
            <a:endParaRPr lang="en-US" sz="1500" dirty="0"/>
          </a:p>
        </p:txBody>
      </p:sp>
      <p:sp>
        <p:nvSpPr>
          <p:cNvPr id="14" name="Text 12"/>
          <p:cNvSpPr/>
          <p:nvPr/>
        </p:nvSpPr>
        <p:spPr>
          <a:xfrm>
            <a:off x="3666744" y="2980944"/>
            <a:ext cx="2148840" cy="100584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Some districts are funded. Some are not, through budget limits, not by design</a:t>
            </a:r>
            <a:endParaRPr lang="en-US" sz="1350" dirty="0"/>
          </a:p>
        </p:txBody>
      </p:sp>
      <p:sp>
        <p:nvSpPr>
          <p:cNvPr id="15" name="Text 13"/>
          <p:cNvSpPr/>
          <p:nvPr/>
        </p:nvSpPr>
        <p:spPr>
          <a:xfrm>
            <a:off x="6062472" y="2743200"/>
            <a:ext cx="182880" cy="365760"/>
          </a:xfrm>
          <a:prstGeom prst="rect">
            <a:avLst/>
          </a:prstGeom>
          <a:noFill/>
          <a:ln/>
        </p:spPr>
        <p:txBody>
          <a:bodyPr wrap="square" lIns="0" tIns="0" rIns="0" bIns="0" rtlCol="0" anchor="ctr"/>
          <a:lstStyle/>
          <a:p>
            <a:pPr algn="ctr" indent="0" marL="0">
              <a:buNone/>
            </a:pPr>
            <a:r>
              <a:rPr lang="en-US" sz="1600" dirty="0">
                <a:solidFill>
                  <a:srgbClr val="AFC0CA"/>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236208" y="1828800"/>
            <a:ext cx="2606040" cy="2286000"/>
          </a:xfrm>
          <a:prstGeom prst="roundRect">
            <a:avLst>
              <a:gd name="adj" fmla="val 3200"/>
            </a:avLst>
          </a:prstGeom>
          <a:solidFill>
            <a:srgbClr val="F4F7F9"/>
          </a:solidFill>
          <a:ln w="12700">
            <a:solidFill>
              <a:srgbClr val="E2E9ED"/>
            </a:solidFill>
            <a:prstDash val="solid"/>
          </a:ln>
        </p:spPr>
      </p:sp>
      <p:sp>
        <p:nvSpPr>
          <p:cNvPr id="17" name="Shape 15"/>
          <p:cNvSpPr/>
          <p:nvPr/>
        </p:nvSpPr>
        <p:spPr>
          <a:xfrm>
            <a:off x="6464808" y="2029968"/>
            <a:ext cx="475488" cy="475488"/>
          </a:xfrm>
          <a:prstGeom prst="ellipse">
            <a:avLst/>
          </a:prstGeom>
          <a:solidFill>
            <a:srgbClr val="1C7293"/>
          </a:solidFill>
          <a:ln/>
        </p:spPr>
      </p:sp>
      <p:sp>
        <p:nvSpPr>
          <p:cNvPr id="18" name="Text 16"/>
          <p:cNvSpPr/>
          <p:nvPr/>
        </p:nvSpPr>
        <p:spPr>
          <a:xfrm>
            <a:off x="6464808" y="202996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6464808" y="2615184"/>
            <a:ext cx="2148840" cy="329184"/>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Observe</a:t>
            </a:r>
            <a:endParaRPr lang="en-US" sz="1500" dirty="0"/>
          </a:p>
        </p:txBody>
      </p:sp>
      <p:sp>
        <p:nvSpPr>
          <p:cNvPr id="20" name="Text 18"/>
          <p:cNvSpPr/>
          <p:nvPr/>
        </p:nvSpPr>
        <p:spPr>
          <a:xfrm>
            <a:off x="6464808" y="2980944"/>
            <a:ext cx="2148840" cy="100584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Next season WaPOR measures evaporation in both groups, at the same cost, with the same instrument</a:t>
            </a:r>
            <a:endParaRPr lang="en-US" sz="1350" dirty="0"/>
          </a:p>
        </p:txBody>
      </p:sp>
      <p:sp>
        <p:nvSpPr>
          <p:cNvPr id="21" name="Text 19"/>
          <p:cNvSpPr/>
          <p:nvPr/>
        </p:nvSpPr>
        <p:spPr>
          <a:xfrm>
            <a:off x="8860536" y="2743200"/>
            <a:ext cx="182880" cy="365760"/>
          </a:xfrm>
          <a:prstGeom prst="rect">
            <a:avLst/>
          </a:prstGeom>
          <a:noFill/>
          <a:ln/>
        </p:spPr>
        <p:txBody>
          <a:bodyPr wrap="square" lIns="0" tIns="0" rIns="0" bIns="0" rtlCol="0" anchor="ctr"/>
          <a:lstStyle/>
          <a:p>
            <a:pPr algn="ctr" indent="0" marL="0">
              <a:buNone/>
            </a:pPr>
            <a:r>
              <a:rPr lang="en-US" sz="1600" dirty="0">
                <a:solidFill>
                  <a:srgbClr val="AFC0CA"/>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9034272" y="1828800"/>
            <a:ext cx="2606040" cy="2286000"/>
          </a:xfrm>
          <a:prstGeom prst="roundRect">
            <a:avLst>
              <a:gd name="adj" fmla="val 3200"/>
            </a:avLst>
          </a:prstGeom>
          <a:solidFill>
            <a:srgbClr val="F4F7F9"/>
          </a:solidFill>
          <a:ln w="12700">
            <a:solidFill>
              <a:srgbClr val="E2E9ED"/>
            </a:solidFill>
            <a:prstDash val="solid"/>
          </a:ln>
        </p:spPr>
      </p:sp>
      <p:sp>
        <p:nvSpPr>
          <p:cNvPr id="23" name="Shape 21"/>
          <p:cNvSpPr/>
          <p:nvPr/>
        </p:nvSpPr>
        <p:spPr>
          <a:xfrm>
            <a:off x="9262872" y="2029968"/>
            <a:ext cx="475488" cy="475488"/>
          </a:xfrm>
          <a:prstGeom prst="ellipse">
            <a:avLst/>
          </a:prstGeom>
          <a:solidFill>
            <a:srgbClr val="D96F32"/>
          </a:solidFill>
          <a:ln/>
        </p:spPr>
      </p:sp>
      <p:sp>
        <p:nvSpPr>
          <p:cNvPr id="24" name="Text 22"/>
          <p:cNvSpPr/>
          <p:nvPr/>
        </p:nvSpPr>
        <p:spPr>
          <a:xfrm>
            <a:off x="9262872" y="202996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9262872" y="2615184"/>
            <a:ext cx="2148840" cy="329184"/>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Attribute</a:t>
            </a:r>
            <a:endParaRPr lang="en-US" sz="1500" dirty="0"/>
          </a:p>
        </p:txBody>
      </p:sp>
      <p:sp>
        <p:nvSpPr>
          <p:cNvPr id="26" name="Text 24"/>
          <p:cNvSpPr/>
          <p:nvPr/>
        </p:nvSpPr>
        <p:spPr>
          <a:xfrm>
            <a:off x="9262872" y="2980944"/>
            <a:ext cx="2148840" cy="100584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Funded vs unfunded is a control group. Difference-in-differences, with the confidence interval shown</a:t>
            </a:r>
            <a:endParaRPr lang="en-US" sz="1350" dirty="0"/>
          </a:p>
        </p:txBody>
      </p:sp>
      <p:sp>
        <p:nvSpPr>
          <p:cNvPr id="27" name="Shape 25"/>
          <p:cNvSpPr/>
          <p:nvPr/>
        </p:nvSpPr>
        <p:spPr>
          <a:xfrm>
            <a:off x="640080" y="4434840"/>
            <a:ext cx="10881360" cy="1554480"/>
          </a:xfrm>
          <a:prstGeom prst="roundRect">
            <a:avLst>
              <a:gd name="adj" fmla="val 4706"/>
            </a:avLst>
          </a:prstGeom>
          <a:solidFill>
            <a:srgbClr val="F0F5F8"/>
          </a:solidFill>
          <a:ln w="12700">
            <a:solidFill>
              <a:srgbClr val="D6E3EA"/>
            </a:solidFill>
            <a:prstDash val="solid"/>
          </a:ln>
        </p:spPr>
      </p:sp>
      <p:sp>
        <p:nvSpPr>
          <p:cNvPr id="28" name="Text 26"/>
          <p:cNvSpPr/>
          <p:nvPr/>
        </p:nvSpPr>
        <p:spPr>
          <a:xfrm>
            <a:off x="914400" y="4590288"/>
            <a:ext cx="10332720" cy="347472"/>
          </a:xfrm>
          <a:prstGeom prst="rect">
            <a:avLst/>
          </a:prstGeom>
          <a:noFill/>
          <a:ln/>
        </p:spPr>
        <p:txBody>
          <a:bodyPr wrap="square" lIns="0" tIns="0" rIns="0" bIns="0" rtlCol="0" anchor="ctr"/>
          <a:lstStyle/>
          <a:p>
            <a:pPr indent="0" marL="0">
              <a:buNone/>
            </a:pPr>
            <a:r>
              <a:rPr lang="en-US" sz="1700" b="1" dirty="0">
                <a:solidFill>
                  <a:srgbClr val="0B3C5D"/>
                </a:solidFill>
                <a:latin typeface="Calibri" pitchFamily="34" charset="0"/>
                <a:ea typeface="Calibri" pitchFamily="34" charset="-122"/>
                <a:cs typeface="Calibri" pitchFamily="34" charset="-120"/>
              </a:rPr>
              <a:t>Why this matters</a:t>
            </a:r>
            <a:endParaRPr lang="en-US" sz="1700" dirty="0"/>
          </a:p>
        </p:txBody>
      </p:sp>
      <p:sp>
        <p:nvSpPr>
          <p:cNvPr id="29" name="Text 27"/>
          <p:cNvSpPr/>
          <p:nvPr/>
        </p:nvSpPr>
        <p:spPr>
          <a:xfrm>
            <a:off x="914400" y="4956048"/>
            <a:ext cx="10332720" cy="868680"/>
          </a:xfrm>
          <a:prstGeom prst="rect">
            <a:avLst/>
          </a:prstGeom>
          <a:noFill/>
          <a:ln/>
        </p:spPr>
        <p:txBody>
          <a:bodyPr wrap="square" lIns="0" tIns="0" rIns="0" bIns="0" rtlCol="0" anchor="ctr"/>
          <a:lstStyle/>
          <a:p>
            <a:pPr indent="0" marL="0">
              <a:buNone/>
            </a:pPr>
            <a:r>
              <a:rPr lang="en-US" sz="1450" dirty="0">
                <a:solidFill>
                  <a:srgbClr val="14202A"/>
                </a:solidFill>
                <a:latin typeface="Calibri" pitchFamily="34" charset="0"/>
                <a:ea typeface="Calibri" pitchFamily="34" charset="-122"/>
                <a:cs typeface="Calibri" pitchFamily="34" charset="-120"/>
              </a:rPr>
              <a:t>The same measurement that justified the spending also measures the result, so progress is observed rather than reported. We will publish the confidence interval with it, including the cases where the change is too small for WaPOR to see.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58368"/>
          </a:xfrm>
          <a:prstGeom prst="rect">
            <a:avLst/>
          </a:prstGeom>
          <a:noFill/>
          <a:ln/>
        </p:spPr>
        <p:txBody>
          <a:bodyPr wrap="square" lIns="0" tIns="0" rIns="0" bIns="0" rtlCol="0" anchor="ctr"/>
          <a:lstStyle/>
          <a:p>
            <a:pPr indent="0" marL="0">
              <a:buNone/>
            </a:pPr>
            <a:r>
              <a:rPr lang="en-US" sz="3400" b="1" dirty="0">
                <a:solidFill>
                  <a:srgbClr val="0B3C5D"/>
                </a:solidFill>
                <a:latin typeface="Cambria" pitchFamily="34" charset="0"/>
                <a:ea typeface="Cambria" pitchFamily="34" charset="-122"/>
                <a:cs typeface="Cambria" pitchFamily="34" charset="-120"/>
              </a:rPr>
              <a:t>What we are not claiming</a:t>
            </a:r>
            <a:endParaRPr lang="en-US" sz="3400" dirty="0"/>
          </a:p>
        </p:txBody>
      </p:sp>
      <p:sp>
        <p:nvSpPr>
          <p:cNvPr id="3" name="Text 1"/>
          <p:cNvSpPr/>
          <p:nvPr/>
        </p:nvSpPr>
        <p:spPr>
          <a:xfrm>
            <a:off x="640080" y="1060704"/>
            <a:ext cx="10908792" cy="384048"/>
          </a:xfrm>
          <a:prstGeom prst="rect">
            <a:avLst/>
          </a:prstGeom>
          <a:noFill/>
          <a:ln/>
        </p:spPr>
        <p:txBody>
          <a:bodyPr wrap="square" lIns="0" tIns="0" rIns="0" bIns="0" rtlCol="0" anchor="ctr"/>
          <a:lstStyle/>
          <a:p>
            <a:pPr indent="0" marL="0">
              <a:buNone/>
            </a:pPr>
            <a:r>
              <a:rPr lang="en-US" sz="1500" dirty="0">
                <a:solidFill>
                  <a:srgbClr val="6B7B87"/>
                </a:solidFill>
                <a:latin typeface="Calibri" pitchFamily="34" charset="0"/>
                <a:ea typeface="Calibri" pitchFamily="34" charset="-122"/>
                <a:cs typeface="Calibri" pitchFamily="34" charset="-120"/>
              </a:rPr>
              <a:t>The limits of the method, set out plainly.</a:t>
            </a:r>
            <a:endParaRPr lang="en-US" sz="1500" dirty="0"/>
          </a:p>
        </p:txBody>
      </p:sp>
      <p:sp>
        <p:nvSpPr>
          <p:cNvPr id="4" name="Shape 2"/>
          <p:cNvSpPr/>
          <p:nvPr/>
        </p:nvSpPr>
        <p:spPr>
          <a:xfrm>
            <a:off x="640080" y="1737360"/>
            <a:ext cx="5257800" cy="1783080"/>
          </a:xfrm>
          <a:prstGeom prst="roundRect">
            <a:avLst>
              <a:gd name="adj" fmla="val 4103"/>
            </a:avLst>
          </a:prstGeom>
          <a:solidFill>
            <a:srgbClr val="F4F7F9"/>
          </a:solidFill>
          <a:ln w="12700">
            <a:solidFill>
              <a:srgbClr val="E2E9ED"/>
            </a:solidFill>
            <a:prstDash val="solid"/>
          </a:ln>
        </p:spPr>
      </p:sp>
      <p:sp>
        <p:nvSpPr>
          <p:cNvPr id="5" name="Text 3"/>
          <p:cNvSpPr/>
          <p:nvPr/>
        </p:nvSpPr>
        <p:spPr>
          <a:xfrm>
            <a:off x="914400" y="1901952"/>
            <a:ext cx="4709160" cy="347472"/>
          </a:xfrm>
          <a:prstGeom prst="rect">
            <a:avLst/>
          </a:prstGeom>
          <a:noFill/>
          <a:ln/>
        </p:spPr>
        <p:txBody>
          <a:bodyPr wrap="square" lIns="0" tIns="0" rIns="0" bIns="0" rtlCol="0" anchor="ctr"/>
          <a:lstStyle/>
          <a:p>
            <a:pPr indent="0" marL="0">
              <a:buNone/>
            </a:pPr>
            <a:r>
              <a:rPr lang="en-US" sz="1400" b="1" dirty="0">
                <a:solidFill>
                  <a:srgbClr val="0B3C5D"/>
                </a:solidFill>
                <a:latin typeface="Calibri" pitchFamily="34" charset="0"/>
                <a:ea typeface="Calibri" pitchFamily="34" charset="-122"/>
                <a:cs typeface="Calibri" pitchFamily="34" charset="-120"/>
              </a:rPr>
              <a:t>Field scale is not basin scale</a:t>
            </a:r>
            <a:endParaRPr lang="en-US" sz="1400" dirty="0"/>
          </a:p>
        </p:txBody>
      </p:sp>
      <p:sp>
        <p:nvSpPr>
          <p:cNvPr id="6" name="Text 4"/>
          <p:cNvSpPr/>
          <p:nvPr/>
        </p:nvSpPr>
        <p:spPr>
          <a:xfrm>
            <a:off x="914400" y="2267712"/>
            <a:ext cx="4709160" cy="109728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Some water an intervention frees was already returning to a drain and being reused downstream, and suppressing evaporation can convert it to transpiration and yield rather than to saved water. Recoverable E is an upper bound. These figures rank places; they are not a water account.</a:t>
            </a:r>
            <a:endParaRPr lang="en-US" sz="1350" dirty="0"/>
          </a:p>
        </p:txBody>
      </p:sp>
      <p:sp>
        <p:nvSpPr>
          <p:cNvPr id="7" name="Shape 5"/>
          <p:cNvSpPr/>
          <p:nvPr/>
        </p:nvSpPr>
        <p:spPr>
          <a:xfrm>
            <a:off x="6263640" y="1737360"/>
            <a:ext cx="5257800" cy="1783080"/>
          </a:xfrm>
          <a:prstGeom prst="roundRect">
            <a:avLst>
              <a:gd name="adj" fmla="val 4103"/>
            </a:avLst>
          </a:prstGeom>
          <a:solidFill>
            <a:srgbClr val="F4F7F9"/>
          </a:solidFill>
          <a:ln w="12700">
            <a:solidFill>
              <a:srgbClr val="E2E9ED"/>
            </a:solidFill>
            <a:prstDash val="solid"/>
          </a:ln>
        </p:spPr>
      </p:sp>
      <p:sp>
        <p:nvSpPr>
          <p:cNvPr id="8" name="Text 6"/>
          <p:cNvSpPr/>
          <p:nvPr/>
        </p:nvSpPr>
        <p:spPr>
          <a:xfrm>
            <a:off x="6537960" y="1901952"/>
            <a:ext cx="4709160" cy="347472"/>
          </a:xfrm>
          <a:prstGeom prst="rect">
            <a:avLst/>
          </a:prstGeom>
          <a:noFill/>
          <a:ln/>
        </p:spPr>
        <p:txBody>
          <a:bodyPr wrap="square" lIns="0" tIns="0" rIns="0" bIns="0" rtlCol="0" anchor="ctr"/>
          <a:lstStyle/>
          <a:p>
            <a:pPr indent="0" marL="0">
              <a:buNone/>
            </a:pPr>
            <a:r>
              <a:rPr lang="en-US" sz="1400" b="1" dirty="0">
                <a:solidFill>
                  <a:srgbClr val="0B3C5D"/>
                </a:solidFill>
                <a:latin typeface="Calibri" pitchFamily="34" charset="0"/>
                <a:ea typeface="Calibri" pitchFamily="34" charset="-122"/>
                <a:cs typeface="Calibri" pitchFamily="34" charset="-120"/>
              </a:rPr>
              <a:t>Feasibility rests on one swap</a:t>
            </a:r>
            <a:endParaRPr lang="en-US" sz="1400" dirty="0"/>
          </a:p>
        </p:txBody>
      </p:sp>
      <p:sp>
        <p:nvSpPr>
          <p:cNvPr id="9" name="Text 7"/>
          <p:cNvSpPr/>
          <p:nvPr/>
        </p:nvSpPr>
        <p:spPr>
          <a:xfrm>
            <a:off x="6537960" y="2267712"/>
            <a:ext cx="4709160" cy="109728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Governorates are not how this budget is delivered, irrigation directorates and command areas are. The method is boundary-agnostic: the same three lines run on any polygon set, including IPAT’s own 20 m command areas. That swap is the whole distance between this and something MWRI could run.</a:t>
            </a:r>
            <a:endParaRPr lang="en-US" sz="1350" dirty="0"/>
          </a:p>
        </p:txBody>
      </p:sp>
      <p:sp>
        <p:nvSpPr>
          <p:cNvPr id="10" name="Shape 8"/>
          <p:cNvSpPr/>
          <p:nvPr/>
        </p:nvSpPr>
        <p:spPr>
          <a:xfrm>
            <a:off x="640080" y="3703320"/>
            <a:ext cx="5257800" cy="1783080"/>
          </a:xfrm>
          <a:prstGeom prst="roundRect">
            <a:avLst>
              <a:gd name="adj" fmla="val 4103"/>
            </a:avLst>
          </a:prstGeom>
          <a:solidFill>
            <a:srgbClr val="F4F7F9"/>
          </a:solidFill>
          <a:ln w="12700">
            <a:solidFill>
              <a:srgbClr val="E2E9ED"/>
            </a:solidFill>
            <a:prstDash val="solid"/>
          </a:ln>
        </p:spPr>
      </p:sp>
      <p:sp>
        <p:nvSpPr>
          <p:cNvPr id="11" name="Text 9"/>
          <p:cNvSpPr/>
          <p:nvPr/>
        </p:nvSpPr>
        <p:spPr>
          <a:xfrm>
            <a:off x="914400" y="3867912"/>
            <a:ext cx="4709160" cy="347472"/>
          </a:xfrm>
          <a:prstGeom prst="rect">
            <a:avLst/>
          </a:prstGeom>
          <a:noFill/>
          <a:ln/>
        </p:spPr>
        <p:txBody>
          <a:bodyPr wrap="square" lIns="0" tIns="0" rIns="0" bIns="0" rtlCol="0" anchor="ctr"/>
          <a:lstStyle/>
          <a:p>
            <a:pPr indent="0" marL="0">
              <a:buNone/>
            </a:pPr>
            <a:r>
              <a:rPr lang="en-US" sz="1400" b="1" dirty="0">
                <a:solidFill>
                  <a:srgbClr val="0B3C5D"/>
                </a:solidFill>
                <a:latin typeface="Calibri" pitchFamily="34" charset="0"/>
                <a:ea typeface="Calibri" pitchFamily="34" charset="-122"/>
                <a:cs typeface="Calibri" pitchFamily="34" charset="-120"/>
              </a:rPr>
              <a:t>The magnitude is soft, the order is not</a:t>
            </a:r>
            <a:endParaRPr lang="en-US" sz="1400" dirty="0"/>
          </a:p>
        </p:txBody>
      </p:sp>
      <p:sp>
        <p:nvSpPr>
          <p:cNvPr id="12" name="Text 10"/>
          <p:cNvSpPr/>
          <p:nvPr/>
        </p:nvSpPr>
        <p:spPr>
          <a:xfrm>
            <a:off x="914400" y="4233672"/>
            <a:ext cx="4709160" cy="109728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The ranking is driven by observed evaporation. The size of the prize moves with every cost coefficient, so every one is an editable input, not a hidden constant. An earlier version of our own robustness claim did not survive testing, and we withdrew it.</a:t>
            </a:r>
            <a:endParaRPr lang="en-US" sz="1350" dirty="0"/>
          </a:p>
        </p:txBody>
      </p:sp>
      <p:sp>
        <p:nvSpPr>
          <p:cNvPr id="13" name="Shape 11"/>
          <p:cNvSpPr/>
          <p:nvPr/>
        </p:nvSpPr>
        <p:spPr>
          <a:xfrm>
            <a:off x="6263640" y="3703320"/>
            <a:ext cx="5257800" cy="1783080"/>
          </a:xfrm>
          <a:prstGeom prst="roundRect">
            <a:avLst>
              <a:gd name="adj" fmla="val 4103"/>
            </a:avLst>
          </a:prstGeom>
          <a:solidFill>
            <a:srgbClr val="FDECEC"/>
          </a:solidFill>
          <a:ln w="12700">
            <a:solidFill>
              <a:srgbClr val="E2E9ED"/>
            </a:solidFill>
            <a:prstDash val="solid"/>
          </a:ln>
        </p:spPr>
      </p:sp>
      <p:sp>
        <p:nvSpPr>
          <p:cNvPr id="14" name="Text 12"/>
          <p:cNvSpPr/>
          <p:nvPr/>
        </p:nvSpPr>
        <p:spPr>
          <a:xfrm>
            <a:off x="6537960" y="3867912"/>
            <a:ext cx="4709160" cy="347472"/>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Most of the value is the pattern, not the pixel</a:t>
            </a:r>
            <a:endParaRPr lang="en-US" sz="1400" dirty="0"/>
          </a:p>
        </p:txBody>
      </p:sp>
      <p:sp>
        <p:nvSpPr>
          <p:cNvPr id="15" name="Text 13"/>
          <p:cNvSpPr/>
          <p:nvPr/>
        </p:nvSpPr>
        <p:spPr>
          <a:xfrm>
            <a:off x="6537960" y="4233672"/>
            <a:ext cx="4709160" cy="109728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Real per-district evaporation gives +25.2% over the baseline. A per-system average alone gives +21.5%. So satellite detail is worth about 3.7 points, the rest is the system-level pattern. But that pattern is precisely what the satellite told us we had backwards.</a:t>
            </a:r>
            <a:endParaRPr lang="en-US" sz="1350" dirty="0"/>
          </a:p>
        </p:txBody>
      </p:sp>
      <p:sp>
        <p:nvSpPr>
          <p:cNvPr id="16" name="Shape 14"/>
          <p:cNvSpPr/>
          <p:nvPr/>
        </p:nvSpPr>
        <p:spPr>
          <a:xfrm>
            <a:off x="640080" y="3703320"/>
            <a:ext cx="5257800" cy="1783080"/>
          </a:xfrm>
          <a:prstGeom prst="roundRect">
            <a:avLst>
              <a:gd name="adj" fmla="val 4103"/>
            </a:avLst>
          </a:prstGeom>
          <a:solidFill>
            <a:srgbClr val="F4F7F9"/>
          </a:solidFill>
          <a:ln w="12700">
            <a:solidFill>
              <a:srgbClr val="E2E9ED"/>
            </a:solidFill>
            <a:prstDash val="solid"/>
          </a:ln>
        </p:spPr>
      </p:sp>
      <p:sp>
        <p:nvSpPr>
          <p:cNvPr id="17" name="Text 15"/>
          <p:cNvSpPr/>
          <p:nvPr/>
        </p:nvSpPr>
        <p:spPr>
          <a:xfrm>
            <a:off x="914400" y="3867912"/>
            <a:ext cx="4709160" cy="347472"/>
          </a:xfrm>
          <a:prstGeom prst="rect">
            <a:avLst/>
          </a:prstGeom>
          <a:noFill/>
          <a:ln/>
        </p:spPr>
        <p:txBody>
          <a:bodyPr wrap="square" lIns="0" tIns="0" rIns="0" bIns="0" rtlCol="0" anchor="ctr"/>
          <a:lstStyle/>
          <a:p>
            <a:pPr indent="0" marL="0">
              <a:buNone/>
            </a:pPr>
            <a:r>
              <a:rPr lang="en-US" sz="1400" b="1" dirty="0">
                <a:solidFill>
                  <a:srgbClr val="0B3C5D"/>
                </a:solidFill>
                <a:latin typeface="Calibri" pitchFamily="34" charset="0"/>
                <a:ea typeface="Calibri" pitchFamily="34" charset="-122"/>
                <a:cs typeface="Calibri" pitchFamily="34" charset="-120"/>
              </a:rPr>
              <a:t>We caught ourselves contaminating our own result</a:t>
            </a:r>
            <a:endParaRPr lang="en-US" sz="1400" dirty="0"/>
          </a:p>
        </p:txBody>
      </p:sp>
      <p:sp>
        <p:nvSpPr>
          <p:cNvPr id="18" name="Text 16"/>
          <p:cNvSpPr/>
          <p:nvPr/>
        </p:nvSpPr>
        <p:spPr>
          <a:xfrm>
            <a:off x="914400" y="4233672"/>
            <a:ext cx="4709160" cy="1097280"/>
          </a:xfrm>
          <a:prstGeom prst="rect">
            <a:avLst/>
          </a:prstGeom>
          <a:noFill/>
          <a:ln/>
        </p:spPr>
        <p:txBody>
          <a:bodyPr wrap="square" lIns="0" tIns="0" rIns="0" bIns="0" rtlCol="0" anchor="ctr"/>
          <a:lstStyle/>
          <a:p>
            <a:pPr indent="0" marL="0">
              <a:buNone/>
            </a:pPr>
            <a:r>
              <a:rPr lang="en-US" sz="1350" dirty="0">
                <a:solidFill>
                  <a:srgbClr val="14202A"/>
                </a:solidFill>
                <a:latin typeface="Calibri" pitchFamily="34" charset="0"/>
                <a:ea typeface="Calibri" pitchFamily="34" charset="-122"/>
                <a:cs typeface="Calibri" pitchFamily="34" charset="-120"/>
              </a:rPr>
              <a:t>Lake Nasser, the Toshka lakes, canals and fish ponds survived both the JRC water mask and the beneficial-fraction test, evaporating 1,300–1,800 mm. In Aswan that was 5,392 pixels and it had put Aswan top of the national ranking on contamination alone. A physical ceiling on cropland evaporation removed it; Aswan’s lead largely went with it.</a:t>
            </a:r>
            <a:endParaRPr lang="en-US" sz="1350" dirty="0"/>
          </a:p>
        </p:txBody>
      </p:sp>
      <p:sp>
        <p:nvSpPr>
          <p:cNvPr id="19" name="Text 17"/>
          <p:cNvSpPr/>
          <p:nvPr/>
        </p:nvSpPr>
        <p:spPr>
          <a:xfrm>
            <a:off x="640080" y="6291072"/>
            <a:ext cx="10908792" cy="310896"/>
          </a:xfrm>
          <a:prstGeom prst="rect">
            <a:avLst/>
          </a:prstGeom>
          <a:noFill/>
          <a:ln/>
        </p:spPr>
        <p:txBody>
          <a:bodyPr wrap="square" lIns="0" tIns="0" rIns="0" bIns="0" rtlCol="0" anchor="ctr"/>
          <a:lstStyle/>
          <a:p>
            <a:pPr indent="0" marL="0">
              <a:buNone/>
            </a:pPr>
            <a:r>
              <a:rPr lang="en-US" sz="1100" i="1" dirty="0">
                <a:solidFill>
                  <a:srgbClr val="6B7B87"/>
                </a:solidFill>
                <a:latin typeface="Calibri" pitchFamily="34" charset="0"/>
                <a:ea typeface="Calibri" pitchFamily="34" charset="-122"/>
                <a:cs typeface="Calibri" pitchFamily="34" charset="-120"/>
              </a:rPr>
              <a:t>Each of these is documented in full, with the corrections we made, in the accompanying technical note.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C5D"/>
        </a:solidFill>
      </p:bgPr>
    </p:bg>
    <p:spTree>
      <p:nvGrpSpPr>
        <p:cNvPr id="1" name=""/>
        <p:cNvGrpSpPr/>
        <p:nvPr/>
      </p:nvGrpSpPr>
      <p:grpSpPr>
        <a:xfrm>
          <a:off x="0" y="0"/>
          <a:ext cx="0" cy="0"/>
          <a:chOff x="0" y="0"/>
          <a:chExt cx="0" cy="0"/>
        </a:xfrm>
      </p:grpSpPr>
      <p:sp>
        <p:nvSpPr>
          <p:cNvPr id="2" name="Text 0"/>
          <p:cNvSpPr/>
          <p:nvPr/>
        </p:nvSpPr>
        <p:spPr>
          <a:xfrm>
            <a:off x="822960" y="1371600"/>
            <a:ext cx="10515600" cy="548640"/>
          </a:xfrm>
          <a:prstGeom prst="rect">
            <a:avLst/>
          </a:prstGeom>
          <a:noFill/>
          <a:ln/>
        </p:spPr>
        <p:txBody>
          <a:bodyPr wrap="square" lIns="0" tIns="0" rIns="0" bIns="0" rtlCol="0" anchor="ctr"/>
          <a:lstStyle/>
          <a:p>
            <a:pPr indent="0" marL="0">
              <a:buNone/>
            </a:pPr>
            <a:r>
              <a:rPr lang="en-US" sz="1500" b="1" spc="160" kern="0" dirty="0">
                <a:solidFill>
                  <a:srgbClr val="8FB3C6"/>
                </a:solidFill>
                <a:latin typeface="Calibri" pitchFamily="34" charset="0"/>
                <a:ea typeface="Calibri" pitchFamily="34" charset="-122"/>
                <a:cs typeface="Calibri" pitchFamily="34" charset="-120"/>
              </a:rPr>
              <a:t>WHY IT WOULD ACTUALLY GET USED</a:t>
            </a:r>
            <a:endParaRPr lang="en-US" sz="1500" dirty="0"/>
          </a:p>
        </p:txBody>
      </p:sp>
      <p:sp>
        <p:nvSpPr>
          <p:cNvPr id="3" name="Text 1"/>
          <p:cNvSpPr/>
          <p:nvPr/>
        </p:nvSpPr>
        <p:spPr>
          <a:xfrm>
            <a:off x="822960" y="1874520"/>
            <a:ext cx="10515600" cy="155448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An ordered spending list,</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not another map.</a:t>
            </a:r>
            <a:endParaRPr lang="en-US" sz="4000" dirty="0"/>
          </a:p>
        </p:txBody>
      </p:sp>
      <p:sp>
        <p:nvSpPr>
          <p:cNvPr id="4" name="Text 2"/>
          <p:cNvSpPr/>
          <p:nvPr/>
        </p:nvSpPr>
        <p:spPr>
          <a:xfrm>
            <a:off x="822960" y="3703320"/>
            <a:ext cx="274320" cy="384048"/>
          </a:xfrm>
          <a:prstGeom prst="rect">
            <a:avLst/>
          </a:prstGeom>
          <a:noFill/>
          <a:ln/>
        </p:spPr>
        <p:txBody>
          <a:bodyPr wrap="square" lIns="0" tIns="0" rIns="0" bIns="0" rtlCol="0" anchor="ctr"/>
          <a:lstStyle/>
          <a:p>
            <a:pPr indent="0" marL="0">
              <a:buNone/>
            </a:pPr>
            <a:r>
              <a:rPr lang="en-US" sz="1400" dirty="0">
                <a:solidFill>
                  <a:srgbClr val="D96F32"/>
                </a:solidFill>
                <a:latin typeface="Calibri" pitchFamily="34" charset="0"/>
                <a:ea typeface="Calibri" pitchFamily="34" charset="-122"/>
                <a:cs typeface="Calibri" pitchFamily="34" charset="-120"/>
              </a:rPr>
              <a:t>→</a:t>
            </a:r>
            <a:endParaRPr lang="en-US" sz="1400" dirty="0"/>
          </a:p>
        </p:txBody>
      </p:sp>
      <p:sp>
        <p:nvSpPr>
          <p:cNvPr id="5" name="Text 3"/>
          <p:cNvSpPr/>
          <p:nvPr/>
        </p:nvSpPr>
        <p:spPr>
          <a:xfrm>
            <a:off x="1188720" y="3703320"/>
            <a:ext cx="402336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new tool</a:t>
            </a:r>
            <a:endParaRPr lang="en-US" sz="1350" dirty="0"/>
          </a:p>
        </p:txBody>
      </p:sp>
      <p:sp>
        <p:nvSpPr>
          <p:cNvPr id="6" name="Text 4"/>
          <p:cNvSpPr/>
          <p:nvPr/>
        </p:nvSpPr>
        <p:spPr>
          <a:xfrm>
            <a:off x="5303520" y="3703320"/>
            <a:ext cx="6035040" cy="384048"/>
          </a:xfrm>
          <a:prstGeom prst="rect">
            <a:avLst/>
          </a:prstGeom>
          <a:noFill/>
          <a:ln/>
        </p:spPr>
        <p:txBody>
          <a:bodyPr wrap="square" lIns="0" tIns="0" rIns="0" bIns="0" rtlCol="0" anchor="ctr"/>
          <a:lstStyle/>
          <a:p>
            <a:pPr indent="0" marL="0">
              <a:buNone/>
            </a:pPr>
            <a:r>
              <a:rPr lang="en-US" sz="1450" dirty="0">
                <a:solidFill>
                  <a:srgbClr val="8FB3C6"/>
                </a:solidFill>
                <a:latin typeface="Calibri" pitchFamily="34" charset="0"/>
                <a:ea typeface="Calibri" pitchFamily="34" charset="-122"/>
                <a:cs typeface="Calibri" pitchFamily="34" charset="-120"/>
              </a:rPr>
              <a:t>it runs on IPAT, already operating inside the ministry</a:t>
            </a:r>
            <a:endParaRPr lang="en-US" sz="1450" dirty="0"/>
          </a:p>
        </p:txBody>
      </p:sp>
      <p:sp>
        <p:nvSpPr>
          <p:cNvPr id="7" name="Text 5"/>
          <p:cNvSpPr/>
          <p:nvPr/>
        </p:nvSpPr>
        <p:spPr>
          <a:xfrm>
            <a:off x="822960" y="4270248"/>
            <a:ext cx="274320" cy="384048"/>
          </a:xfrm>
          <a:prstGeom prst="rect">
            <a:avLst/>
          </a:prstGeom>
          <a:noFill/>
          <a:ln/>
        </p:spPr>
        <p:txBody>
          <a:bodyPr wrap="square" lIns="0" tIns="0" rIns="0" bIns="0" rtlCol="0" anchor="ctr"/>
          <a:lstStyle/>
          <a:p>
            <a:pPr indent="0" marL="0">
              <a:buNone/>
            </a:pPr>
            <a:r>
              <a:rPr lang="en-US" sz="1400" dirty="0">
                <a:solidFill>
                  <a:srgbClr val="D96F32"/>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188720" y="4270248"/>
            <a:ext cx="402336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new meeting</a:t>
            </a:r>
            <a:endParaRPr lang="en-US" sz="1350" dirty="0"/>
          </a:p>
        </p:txBody>
      </p:sp>
      <p:sp>
        <p:nvSpPr>
          <p:cNvPr id="9" name="Text 7"/>
          <p:cNvSpPr/>
          <p:nvPr/>
        </p:nvSpPr>
        <p:spPr>
          <a:xfrm>
            <a:off x="5303520" y="4270248"/>
            <a:ext cx="6035040" cy="384048"/>
          </a:xfrm>
          <a:prstGeom prst="rect">
            <a:avLst/>
          </a:prstGeom>
          <a:noFill/>
          <a:ln/>
        </p:spPr>
        <p:txBody>
          <a:bodyPr wrap="square" lIns="0" tIns="0" rIns="0" bIns="0" rtlCol="0" anchor="ctr"/>
          <a:lstStyle/>
          <a:p>
            <a:pPr indent="0" marL="0">
              <a:buNone/>
            </a:pPr>
            <a:r>
              <a:rPr lang="en-US" sz="1450" dirty="0">
                <a:solidFill>
                  <a:srgbClr val="8FB3C6"/>
                </a:solidFill>
                <a:latin typeface="Calibri" pitchFamily="34" charset="0"/>
                <a:ea typeface="Calibri" pitchFamily="34" charset="-122"/>
                <a:cs typeface="Calibri" pitchFamily="34" charset="-120"/>
              </a:rPr>
              <a:t>the output is the brief the budget committee already writes</a:t>
            </a:r>
            <a:endParaRPr lang="en-US" sz="1450" dirty="0"/>
          </a:p>
        </p:txBody>
      </p:sp>
      <p:sp>
        <p:nvSpPr>
          <p:cNvPr id="10" name="Text 8"/>
          <p:cNvSpPr/>
          <p:nvPr/>
        </p:nvSpPr>
        <p:spPr>
          <a:xfrm>
            <a:off x="822960" y="4837176"/>
            <a:ext cx="274320" cy="384048"/>
          </a:xfrm>
          <a:prstGeom prst="rect">
            <a:avLst/>
          </a:prstGeom>
          <a:noFill/>
          <a:ln/>
        </p:spPr>
        <p:txBody>
          <a:bodyPr wrap="square" lIns="0" tIns="0" rIns="0" bIns="0" rtlCol="0" anchor="ctr"/>
          <a:lstStyle/>
          <a:p>
            <a:pPr indent="0" marL="0">
              <a:buNone/>
            </a:pPr>
            <a:r>
              <a:rPr lang="en-US" sz="1400" dirty="0">
                <a:solidFill>
                  <a:srgbClr val="D96F32"/>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188720" y="4837176"/>
            <a:ext cx="402336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new data purchase</a:t>
            </a:r>
            <a:endParaRPr lang="en-US" sz="1350" dirty="0"/>
          </a:p>
        </p:txBody>
      </p:sp>
      <p:sp>
        <p:nvSpPr>
          <p:cNvPr id="12" name="Text 10"/>
          <p:cNvSpPr/>
          <p:nvPr/>
        </p:nvSpPr>
        <p:spPr>
          <a:xfrm>
            <a:off x="5303520" y="4837176"/>
            <a:ext cx="6035040" cy="384048"/>
          </a:xfrm>
          <a:prstGeom prst="rect">
            <a:avLst/>
          </a:prstGeom>
          <a:noFill/>
          <a:ln/>
        </p:spPr>
        <p:txBody>
          <a:bodyPr wrap="square" lIns="0" tIns="0" rIns="0" bIns="0" rtlCol="0" anchor="ctr"/>
          <a:lstStyle/>
          <a:p>
            <a:pPr indent="0" marL="0">
              <a:buNone/>
            </a:pPr>
            <a:r>
              <a:rPr lang="en-US" sz="1450" dirty="0">
                <a:solidFill>
                  <a:srgbClr val="8FB3C6"/>
                </a:solidFill>
                <a:latin typeface="Calibri" pitchFamily="34" charset="0"/>
                <a:ea typeface="Calibri" pitchFamily="34" charset="-122"/>
                <a:cs typeface="Calibri" pitchFamily="34" charset="-120"/>
              </a:rPr>
              <a:t>WaPOR is free and global, so this is not Egypt-specific</a:t>
            </a:r>
            <a:endParaRPr lang="en-US" sz="1450" dirty="0"/>
          </a:p>
        </p:txBody>
      </p:sp>
      <p:sp>
        <p:nvSpPr>
          <p:cNvPr id="13" name="Text 11"/>
          <p:cNvSpPr/>
          <p:nvPr/>
        </p:nvSpPr>
        <p:spPr>
          <a:xfrm>
            <a:off x="822960" y="5404104"/>
            <a:ext cx="274320" cy="384048"/>
          </a:xfrm>
          <a:prstGeom prst="rect">
            <a:avLst/>
          </a:prstGeom>
          <a:noFill/>
          <a:ln/>
        </p:spPr>
        <p:txBody>
          <a:bodyPr wrap="square" lIns="0" tIns="0" rIns="0" bIns="0" rtlCol="0" anchor="ctr"/>
          <a:lstStyle/>
          <a:p>
            <a:pPr indent="0" marL="0">
              <a:buNone/>
            </a:pPr>
            <a:r>
              <a:rPr lang="en-US" sz="1400" dirty="0">
                <a:solidFill>
                  <a:srgbClr val="D96F32"/>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188720" y="5404104"/>
            <a:ext cx="402336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new mandate</a:t>
            </a:r>
            <a:endParaRPr lang="en-US" sz="1350" dirty="0"/>
          </a:p>
        </p:txBody>
      </p:sp>
      <p:sp>
        <p:nvSpPr>
          <p:cNvPr id="15" name="Text 13"/>
          <p:cNvSpPr/>
          <p:nvPr/>
        </p:nvSpPr>
        <p:spPr>
          <a:xfrm>
            <a:off x="5303520" y="5404104"/>
            <a:ext cx="6035040" cy="384048"/>
          </a:xfrm>
          <a:prstGeom prst="rect">
            <a:avLst/>
          </a:prstGeom>
          <a:noFill/>
          <a:ln/>
        </p:spPr>
        <p:txBody>
          <a:bodyPr wrap="square" lIns="0" tIns="0" rIns="0" bIns="0" rtlCol="0" anchor="ctr"/>
          <a:lstStyle/>
          <a:p>
            <a:pPr indent="0" marL="0">
              <a:buNone/>
            </a:pPr>
            <a:r>
              <a:rPr lang="en-US" sz="1450" dirty="0">
                <a:solidFill>
                  <a:srgbClr val="8FB3C6"/>
                </a:solidFill>
                <a:latin typeface="Calibri" pitchFamily="34" charset="0"/>
                <a:ea typeface="Calibri" pitchFamily="34" charset="-122"/>
                <a:cs typeface="Calibri" pitchFamily="34" charset="-120"/>
              </a:rPr>
              <a:t>raising water-use efficiency is already what MWRI answers for</a:t>
            </a:r>
            <a:endParaRPr lang="en-US" sz="1450" dirty="0"/>
          </a:p>
        </p:txBody>
      </p:sp>
      <p:sp>
        <p:nvSpPr>
          <p:cNvPr id="16" name="Text 14"/>
          <p:cNvSpPr/>
          <p:nvPr/>
        </p:nvSpPr>
        <p:spPr>
          <a:xfrm>
            <a:off x="822960" y="6172200"/>
            <a:ext cx="10515600" cy="320040"/>
          </a:xfrm>
          <a:prstGeom prst="rect">
            <a:avLst/>
          </a:prstGeom>
          <a:noFill/>
          <a:ln/>
        </p:spPr>
        <p:txBody>
          <a:bodyPr wrap="square" lIns="0" tIns="0" rIns="0" bIns="0" rtlCol="0" anchor="ctr"/>
          <a:lstStyle/>
          <a:p>
            <a:pPr indent="0" marL="0">
              <a:buNone/>
            </a:pPr>
            <a:r>
              <a:rPr lang="en-US" sz="1200" dirty="0">
                <a:solidFill>
                  <a:srgbClr val="6E93A8"/>
                </a:solidFill>
                <a:latin typeface="Calibri" pitchFamily="34" charset="0"/>
                <a:ea typeface="Calibri" pitchFamily="34" charset="-122"/>
                <a:cs typeface="Calibri" pitchFamily="34" charset="-120"/>
              </a:rPr>
              <a:t>An existing tool, an existing budget committee, an existing annual cycle.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2026-08-19T20:48:30Z</dcterms:created>
  <dcterms:modified xsi:type="dcterms:W3CDTF">2026-08-19T20:48:30Z</dcterms:modified>
</cp:coreProperties>
</file>